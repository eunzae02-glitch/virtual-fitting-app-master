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2" r:id="rId16"/>
    <p:sldId id="271" r:id="rId17"/>
    <p:sldId id="270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53B43B-8AF4-4417-8BD5-DE9AB2CB4604}" v="5" dt="2026-10-26T06:21:35.0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38" autoAdjust="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69" y="2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은재 이" userId="fa5724665ed909bb" providerId="LiveId" clId="{C45AF6B6-5C82-4862-B23C-196E09FBEA8D}"/>
    <pc:docChg chg="custSel addSld delSld modSld sldOrd">
      <pc:chgData name="은재 이" userId="fa5724665ed909bb" providerId="LiveId" clId="{C45AF6B6-5C82-4862-B23C-196E09FBEA8D}" dt="2026-10-26T11:17:40.404" v="338" actId="2696"/>
      <pc:docMkLst>
        <pc:docMk/>
      </pc:docMkLst>
      <pc:sldChg chg="modSp mod">
        <pc:chgData name="은재 이" userId="fa5724665ed909bb" providerId="LiveId" clId="{C45AF6B6-5C82-4862-B23C-196E09FBEA8D}" dt="2026-10-26T06:20:22.505" v="170" actId="20577"/>
        <pc:sldMkLst>
          <pc:docMk/>
          <pc:sldMk cId="0" sldId="267"/>
        </pc:sldMkLst>
        <pc:spChg chg="mod">
          <ac:chgData name="은재 이" userId="fa5724665ed909bb" providerId="LiveId" clId="{C45AF6B6-5C82-4862-B23C-196E09FBEA8D}" dt="2026-10-26T06:20:22.505" v="170" actId="20577"/>
          <ac:spMkLst>
            <pc:docMk/>
            <pc:sldMk cId="0" sldId="267"/>
            <ac:spMk id="12" creationId="{00000000-0000-0000-0000-000000000000}"/>
          </ac:spMkLst>
        </pc:spChg>
      </pc:sldChg>
      <pc:sldChg chg="addSp delSp modSp add mod ord setBg">
        <pc:chgData name="은재 이" userId="fa5724665ed909bb" providerId="LiveId" clId="{C45AF6B6-5C82-4862-B23C-196E09FBEA8D}" dt="2026-10-26T06:37:06.120" v="313" actId="14100"/>
        <pc:sldMkLst>
          <pc:docMk/>
          <pc:sldMk cId="2527702847" sldId="271"/>
        </pc:sldMkLst>
        <pc:spChg chg="del">
          <ac:chgData name="은재 이" userId="fa5724665ed909bb" providerId="LiveId" clId="{C45AF6B6-5C82-4862-B23C-196E09FBEA8D}" dt="2026-10-26T06:16:27.007" v="2" actId="478"/>
          <ac:spMkLst>
            <pc:docMk/>
            <pc:sldMk cId="2527702847" sldId="271"/>
            <ac:spMk id="5" creationId="{8C257102-7CF6-B756-CC62-877F7F6B67B2}"/>
          </ac:spMkLst>
        </pc:spChg>
        <pc:spChg chg="del">
          <ac:chgData name="은재 이" userId="fa5724665ed909bb" providerId="LiveId" clId="{C45AF6B6-5C82-4862-B23C-196E09FBEA8D}" dt="2026-10-26T06:16:24.173" v="1" actId="478"/>
          <ac:spMkLst>
            <pc:docMk/>
            <pc:sldMk cId="2527702847" sldId="271"/>
            <ac:spMk id="14" creationId="{B92B5DD2-07E8-C426-E338-522BD2CECFDE}"/>
          </ac:spMkLst>
        </pc:spChg>
        <pc:spChg chg="del">
          <ac:chgData name="은재 이" userId="fa5724665ed909bb" providerId="LiveId" clId="{C45AF6B6-5C82-4862-B23C-196E09FBEA8D}" dt="2026-10-26T06:16:24.173" v="1" actId="478"/>
          <ac:spMkLst>
            <pc:docMk/>
            <pc:sldMk cId="2527702847" sldId="271"/>
            <ac:spMk id="16" creationId="{69DC8D26-7DAE-96CB-2015-E875C36BC3B4}"/>
          </ac:spMkLst>
        </pc:spChg>
        <pc:spChg chg="del">
          <ac:chgData name="은재 이" userId="fa5724665ed909bb" providerId="LiveId" clId="{C45AF6B6-5C82-4862-B23C-196E09FBEA8D}" dt="2026-10-26T06:16:24.173" v="1" actId="478"/>
          <ac:spMkLst>
            <pc:docMk/>
            <pc:sldMk cId="2527702847" sldId="271"/>
            <ac:spMk id="17" creationId="{E67000B6-BDEB-CAEA-850F-30AAC9032027}"/>
          </ac:spMkLst>
        </pc:spChg>
        <pc:spChg chg="del">
          <ac:chgData name="은재 이" userId="fa5724665ed909bb" providerId="LiveId" clId="{C45AF6B6-5C82-4862-B23C-196E09FBEA8D}" dt="2026-10-26T06:16:24.173" v="1" actId="478"/>
          <ac:spMkLst>
            <pc:docMk/>
            <pc:sldMk cId="2527702847" sldId="271"/>
            <ac:spMk id="20" creationId="{F178B0AE-DF9A-99F2-4599-6DC332CDB1BD}"/>
          </ac:spMkLst>
        </pc:spChg>
        <pc:spChg chg="del">
          <ac:chgData name="은재 이" userId="fa5724665ed909bb" providerId="LiveId" clId="{C45AF6B6-5C82-4862-B23C-196E09FBEA8D}" dt="2026-10-26T06:16:24.173" v="1" actId="478"/>
          <ac:spMkLst>
            <pc:docMk/>
            <pc:sldMk cId="2527702847" sldId="271"/>
            <ac:spMk id="21" creationId="{2E3F25E7-E4AF-57D1-CFAC-8C3B7E01FBB3}"/>
          </ac:spMkLst>
        </pc:spChg>
        <pc:spChg chg="del">
          <ac:chgData name="은재 이" userId="fa5724665ed909bb" providerId="LiveId" clId="{C45AF6B6-5C82-4862-B23C-196E09FBEA8D}" dt="2026-10-26T06:16:24.173" v="1" actId="478"/>
          <ac:spMkLst>
            <pc:docMk/>
            <pc:sldMk cId="2527702847" sldId="271"/>
            <ac:spMk id="24" creationId="{096073EF-CA0C-45A5-E9F3-890F76148855}"/>
          </ac:spMkLst>
        </pc:spChg>
        <pc:spChg chg="del">
          <ac:chgData name="은재 이" userId="fa5724665ed909bb" providerId="LiveId" clId="{C45AF6B6-5C82-4862-B23C-196E09FBEA8D}" dt="2026-10-26T06:16:24.173" v="1" actId="478"/>
          <ac:spMkLst>
            <pc:docMk/>
            <pc:sldMk cId="2527702847" sldId="271"/>
            <ac:spMk id="25" creationId="{2358ECD8-25F1-BA87-7E05-45309F06EE90}"/>
          </ac:spMkLst>
        </pc:spChg>
        <pc:spChg chg="del">
          <ac:chgData name="은재 이" userId="fa5724665ed909bb" providerId="LiveId" clId="{C45AF6B6-5C82-4862-B23C-196E09FBEA8D}" dt="2026-10-26T06:16:24.173" v="1" actId="478"/>
          <ac:spMkLst>
            <pc:docMk/>
            <pc:sldMk cId="2527702847" sldId="271"/>
            <ac:spMk id="26" creationId="{BC05A16D-83A0-4B5B-F633-F63605B91BC1}"/>
          </ac:spMkLst>
        </pc:spChg>
        <pc:spChg chg="del">
          <ac:chgData name="은재 이" userId="fa5724665ed909bb" providerId="LiveId" clId="{C45AF6B6-5C82-4862-B23C-196E09FBEA8D}" dt="2026-10-26T06:16:24.173" v="1" actId="478"/>
          <ac:spMkLst>
            <pc:docMk/>
            <pc:sldMk cId="2527702847" sldId="271"/>
            <ac:spMk id="27" creationId="{A40FBB19-0EC3-2607-5E1F-0292C9CE231E}"/>
          </ac:spMkLst>
        </pc:spChg>
        <pc:spChg chg="del">
          <ac:chgData name="은재 이" userId="fa5724665ed909bb" providerId="LiveId" clId="{C45AF6B6-5C82-4862-B23C-196E09FBEA8D}" dt="2026-10-26T06:16:24.173" v="1" actId="478"/>
          <ac:spMkLst>
            <pc:docMk/>
            <pc:sldMk cId="2527702847" sldId="271"/>
            <ac:spMk id="29" creationId="{AB5947EE-EAB7-90B8-6427-6D288F002801}"/>
          </ac:spMkLst>
        </pc:spChg>
        <pc:spChg chg="add mod">
          <ac:chgData name="은재 이" userId="fa5724665ed909bb" providerId="LiveId" clId="{C45AF6B6-5C82-4862-B23C-196E09FBEA8D}" dt="2026-10-26T06:37:06.120" v="313" actId="14100"/>
          <ac:spMkLst>
            <pc:docMk/>
            <pc:sldMk cId="2527702847" sldId="271"/>
            <ac:spMk id="45" creationId="{A0E157E8-55B7-EDE7-E0A0-8AFCFBDA8440}"/>
          </ac:spMkLst>
        </pc:spChg>
        <pc:spChg chg="add mod">
          <ac:chgData name="은재 이" userId="fa5724665ed909bb" providerId="LiveId" clId="{C45AF6B6-5C82-4862-B23C-196E09FBEA8D}" dt="2026-10-26T06:21:11.540" v="215" actId="1076"/>
          <ac:spMkLst>
            <pc:docMk/>
            <pc:sldMk cId="2527702847" sldId="271"/>
            <ac:spMk id="46" creationId="{96CE9D70-32CA-31B1-C3F0-BF365C451F98}"/>
          </ac:spMkLst>
        </pc:spChg>
        <pc:spChg chg="add mod">
          <ac:chgData name="은재 이" userId="fa5724665ed909bb" providerId="LiveId" clId="{C45AF6B6-5C82-4862-B23C-196E09FBEA8D}" dt="2026-10-26T06:21:16.519" v="218" actId="20577"/>
          <ac:spMkLst>
            <pc:docMk/>
            <pc:sldMk cId="2527702847" sldId="271"/>
            <ac:spMk id="47" creationId="{BCC3C272-40FB-E355-8FB8-41B3A443B747}"/>
          </ac:spMkLst>
        </pc:spChg>
        <pc:spChg chg="add mod">
          <ac:chgData name="은재 이" userId="fa5724665ed909bb" providerId="LiveId" clId="{C45AF6B6-5C82-4862-B23C-196E09FBEA8D}" dt="2026-10-26T06:21:23.707" v="223" actId="20577"/>
          <ac:spMkLst>
            <pc:docMk/>
            <pc:sldMk cId="2527702847" sldId="271"/>
            <ac:spMk id="48" creationId="{55B2BD26-1F68-DCFD-DDB8-0BB0AFD1F56A}"/>
          </ac:spMkLst>
        </pc:spChg>
        <pc:picChg chg="add del mod">
          <ac:chgData name="은재 이" userId="fa5724665ed909bb" providerId="LiveId" clId="{C45AF6B6-5C82-4862-B23C-196E09FBEA8D}" dt="2026-10-26T06:19:19.055" v="129" actId="478"/>
          <ac:picMkLst>
            <pc:docMk/>
            <pc:sldMk cId="2527702847" sldId="271"/>
            <ac:picMk id="35" creationId="{ED57FD02-DB2C-EA4D-C15C-13C20A3A0AF0}"/>
          </ac:picMkLst>
        </pc:picChg>
        <pc:picChg chg="add mod">
          <ac:chgData name="은재 이" userId="fa5724665ed909bb" providerId="LiveId" clId="{C45AF6B6-5C82-4862-B23C-196E09FBEA8D}" dt="2026-10-26T06:18:12.808" v="68" actId="1076"/>
          <ac:picMkLst>
            <pc:docMk/>
            <pc:sldMk cId="2527702847" sldId="271"/>
            <ac:picMk id="37" creationId="{F3CD5A95-FE59-9B58-006A-71C72183F5B8}"/>
          </ac:picMkLst>
        </pc:picChg>
        <pc:picChg chg="add mod">
          <ac:chgData name="은재 이" userId="fa5724665ed909bb" providerId="LiveId" clId="{C45AF6B6-5C82-4862-B23C-196E09FBEA8D}" dt="2026-10-26T06:18:31.828" v="126" actId="1037"/>
          <ac:picMkLst>
            <pc:docMk/>
            <pc:sldMk cId="2527702847" sldId="271"/>
            <ac:picMk id="39" creationId="{80F369F4-6276-D8B5-C509-04EAF43551BD}"/>
          </ac:picMkLst>
        </pc:picChg>
        <pc:picChg chg="add mod ord">
          <ac:chgData name="은재 이" userId="fa5724665ed909bb" providerId="LiveId" clId="{C45AF6B6-5C82-4862-B23C-196E09FBEA8D}" dt="2026-10-26T06:20:33.383" v="171" actId="14100"/>
          <ac:picMkLst>
            <pc:docMk/>
            <pc:sldMk cId="2527702847" sldId="271"/>
            <ac:picMk id="43" creationId="{DCFD76D2-11DB-5E39-00D4-52FDE2649CA3}"/>
          </ac:picMkLst>
        </pc:picChg>
        <pc:picChg chg="add del mod ord">
          <ac:chgData name="은재 이" userId="fa5724665ed909bb" providerId="LiveId" clId="{C45AF6B6-5C82-4862-B23C-196E09FBEA8D}" dt="2026-10-26T06:29:31.488" v="276" actId="478"/>
          <ac:picMkLst>
            <pc:docMk/>
            <pc:sldMk cId="2527702847" sldId="271"/>
            <ac:picMk id="50" creationId="{6838F497-3CB4-5712-7671-6999F38CC70D}"/>
          </ac:picMkLst>
        </pc:picChg>
        <pc:cxnChg chg="add mod">
          <ac:chgData name="은재 이" userId="fa5724665ed909bb" providerId="LiveId" clId="{C45AF6B6-5C82-4862-B23C-196E09FBEA8D}" dt="2026-10-26T06:20:11.122" v="167" actId="692"/>
          <ac:cxnSpMkLst>
            <pc:docMk/>
            <pc:sldMk cId="2527702847" sldId="271"/>
            <ac:cxnSpMk id="41" creationId="{22133757-BA11-5FEB-D27B-F5D86B590151}"/>
          </ac:cxnSpMkLst>
        </pc:cxnChg>
      </pc:sldChg>
      <pc:sldChg chg="addSp delSp modSp add mod">
        <pc:chgData name="은재 이" userId="fa5724665ed909bb" providerId="LiveId" clId="{C45AF6B6-5C82-4862-B23C-196E09FBEA8D}" dt="2026-10-26T06:23:36.562" v="247" actId="1076"/>
        <pc:sldMkLst>
          <pc:docMk/>
          <pc:sldMk cId="529658504" sldId="272"/>
        </pc:sldMkLst>
        <pc:spChg chg="mod">
          <ac:chgData name="은재 이" userId="fa5724665ed909bb" providerId="LiveId" clId="{C45AF6B6-5C82-4862-B23C-196E09FBEA8D}" dt="2026-10-26T06:22:31.418" v="240" actId="122"/>
          <ac:spMkLst>
            <pc:docMk/>
            <pc:sldMk cId="529658504" sldId="272"/>
            <ac:spMk id="46" creationId="{3F039C62-1379-2368-2FAE-13E490AD0A41}"/>
          </ac:spMkLst>
        </pc:spChg>
        <pc:spChg chg="del">
          <ac:chgData name="은재 이" userId="fa5724665ed909bb" providerId="LiveId" clId="{C45AF6B6-5C82-4862-B23C-196E09FBEA8D}" dt="2026-10-26T06:22:47.572" v="241" actId="478"/>
          <ac:spMkLst>
            <pc:docMk/>
            <pc:sldMk cId="529658504" sldId="272"/>
            <ac:spMk id="47" creationId="{2EA2E357-0938-B0C1-0AA4-8D2959B185AC}"/>
          </ac:spMkLst>
        </pc:spChg>
        <pc:spChg chg="del">
          <ac:chgData name="은재 이" userId="fa5724665ed909bb" providerId="LiveId" clId="{C45AF6B6-5C82-4862-B23C-196E09FBEA8D}" dt="2026-10-26T06:22:50.002" v="242" actId="478"/>
          <ac:spMkLst>
            <pc:docMk/>
            <pc:sldMk cId="529658504" sldId="272"/>
            <ac:spMk id="48" creationId="{09184334-4648-1AF0-9BEF-5B31DBDCE73B}"/>
          </ac:spMkLst>
        </pc:spChg>
        <pc:picChg chg="add mod">
          <ac:chgData name="은재 이" userId="fa5724665ed909bb" providerId="LiveId" clId="{C45AF6B6-5C82-4862-B23C-196E09FBEA8D}" dt="2026-10-26T06:22:20.299" v="234" actId="1076"/>
          <ac:picMkLst>
            <pc:docMk/>
            <pc:sldMk cId="529658504" sldId="272"/>
            <ac:picMk id="5" creationId="{C10FD23B-7FE0-2B93-E254-5CD0CB0A5F5B}"/>
          </ac:picMkLst>
        </pc:picChg>
        <pc:picChg chg="add mod">
          <ac:chgData name="은재 이" userId="fa5724665ed909bb" providerId="LiveId" clId="{C45AF6B6-5C82-4862-B23C-196E09FBEA8D}" dt="2026-10-26T06:23:36.562" v="247" actId="1076"/>
          <ac:picMkLst>
            <pc:docMk/>
            <pc:sldMk cId="529658504" sldId="272"/>
            <ac:picMk id="10" creationId="{6DF08D81-1DAA-6352-7E8E-48053E8816C3}"/>
          </ac:picMkLst>
        </pc:picChg>
        <pc:picChg chg="del">
          <ac:chgData name="은재 이" userId="fa5724665ed909bb" providerId="LiveId" clId="{C45AF6B6-5C82-4862-B23C-196E09FBEA8D}" dt="2026-10-26T06:21:38.125" v="228" actId="478"/>
          <ac:picMkLst>
            <pc:docMk/>
            <pc:sldMk cId="529658504" sldId="272"/>
            <ac:picMk id="37" creationId="{54B8E981-5D10-3803-A000-D1A8D15AD9BC}"/>
          </ac:picMkLst>
        </pc:picChg>
        <pc:picChg chg="del">
          <ac:chgData name="은재 이" userId="fa5724665ed909bb" providerId="LiveId" clId="{C45AF6B6-5C82-4862-B23C-196E09FBEA8D}" dt="2026-10-26T06:21:39.169" v="229" actId="478"/>
          <ac:picMkLst>
            <pc:docMk/>
            <pc:sldMk cId="529658504" sldId="272"/>
            <ac:picMk id="39" creationId="{3CDE419A-E5AB-FFEC-8A27-9846B07A9EE3}"/>
          </ac:picMkLst>
        </pc:picChg>
        <pc:picChg chg="del">
          <ac:chgData name="은재 이" userId="fa5724665ed909bb" providerId="LiveId" clId="{C45AF6B6-5C82-4862-B23C-196E09FBEA8D}" dt="2026-10-26T06:21:36.957" v="227" actId="478"/>
          <ac:picMkLst>
            <pc:docMk/>
            <pc:sldMk cId="529658504" sldId="272"/>
            <ac:picMk id="43" creationId="{AD6EBA92-B537-5C9C-6F56-ED6BC53E94B8}"/>
          </ac:picMkLst>
        </pc:picChg>
        <pc:cxnChg chg="del">
          <ac:chgData name="은재 이" userId="fa5724665ed909bb" providerId="LiveId" clId="{C45AF6B6-5C82-4862-B23C-196E09FBEA8D}" dt="2026-10-26T06:21:42.151" v="230" actId="478"/>
          <ac:cxnSpMkLst>
            <pc:docMk/>
            <pc:sldMk cId="529658504" sldId="272"/>
            <ac:cxnSpMk id="41" creationId="{E1052404-E24D-95BC-AB61-A84D9F53D043}"/>
          </ac:cxnSpMkLst>
        </pc:cxnChg>
      </pc:sldChg>
      <pc:sldChg chg="addSp delSp modSp new del mod">
        <pc:chgData name="은재 이" userId="fa5724665ed909bb" providerId="LiveId" clId="{C45AF6B6-5C82-4862-B23C-196E09FBEA8D}" dt="2026-10-26T11:17:40.404" v="338" actId="2696"/>
        <pc:sldMkLst>
          <pc:docMk/>
          <pc:sldMk cId="3161725609" sldId="273"/>
        </pc:sldMkLst>
        <pc:picChg chg="add del mod">
          <ac:chgData name="은재 이" userId="fa5724665ed909bb" providerId="LiveId" clId="{C45AF6B6-5C82-4862-B23C-196E09FBEA8D}" dt="2026-10-26T11:16:59.384" v="335" actId="478"/>
          <ac:picMkLst>
            <pc:docMk/>
            <pc:sldMk cId="3161725609" sldId="273"/>
            <ac:picMk id="2" creationId="{D4131AA6-1A32-6ACE-38B4-5D833708298B}"/>
          </ac:picMkLst>
        </pc:picChg>
        <pc:picChg chg="add del mod">
          <ac:chgData name="은재 이" userId="fa5724665ed909bb" providerId="LiveId" clId="{C45AF6B6-5C82-4862-B23C-196E09FBEA8D}" dt="2026-10-26T11:17:00.777" v="336" actId="478"/>
          <ac:picMkLst>
            <pc:docMk/>
            <pc:sldMk cId="3161725609" sldId="273"/>
            <ac:picMk id="3" creationId="{DFF21C09-9017-78EF-13E0-A5D13138B04F}"/>
          </ac:picMkLst>
        </pc:picChg>
        <pc:picChg chg="add del mod">
          <ac:chgData name="은재 이" userId="fa5724665ed909bb" providerId="LiveId" clId="{C45AF6B6-5C82-4862-B23C-196E09FBEA8D}" dt="2026-10-26T11:17:02.152" v="337" actId="478"/>
          <ac:picMkLst>
            <pc:docMk/>
            <pc:sldMk cId="3161725609" sldId="273"/>
            <ac:picMk id="4" creationId="{9BE2CA20-3B5F-EA54-A155-DCE3AD6D3230}"/>
          </ac:picMkLst>
        </pc:picChg>
        <pc:picChg chg="add del mod">
          <ac:chgData name="은재 이" userId="fa5724665ed909bb" providerId="LiveId" clId="{C45AF6B6-5C82-4862-B23C-196E09FBEA8D}" dt="2026-10-26T11:16:57.390" v="334" actId="478"/>
          <ac:picMkLst>
            <pc:docMk/>
            <pc:sldMk cId="3161725609" sldId="273"/>
            <ac:picMk id="5" creationId="{718E9482-BAF2-C462-8778-5CC55D61DAE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C03FE4-7500-4110-9132-D975E9A65C28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FFE247-007C-4E5A-B9F7-A4FCF8C780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7109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근거: app/garment_compare.py, scripts/debug_size_compare.py, AGENTS.md. 신체 가슴둘레/2는 옷 가슴단면과 비교하기 위한 값이며 사진 정면 폭이 아니다.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근거: app/fit_plan.py, app/garment_outline.py, app/size_synthesis.py, scripts/debug_size_preview.py, scripts/garment_mask_editor.py. 로컬은 CPU 변형과 모의 FASHN·브라우저 연결을 검증했다. 사용자는 Colab 실제 합성에서 총장 변화를 확인했지만 폭 변화는 확인하지 못했다.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근거: app/garment_repair.py, docs/PLAN.md의 드러난 영역 복원 기록. 수치는 220×260px 인공 줄무늬 바지 통제 사례의 3,240px 복원 영역에 한정된다. 사용자의 실제 사진에서는 현재 패치 방식도 부자연스럽다고 관찰했다.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D55BB-1073-DE6B-C8F0-C2A362BBA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970D66-C61E-166E-6CC0-39B942056C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DDE7CC-9EE2-E3EC-8559-848F071749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후속 후보: 드러난 영역에만 생성형 인페인팅을 시험한다. 첫 복원 연산 시간은 추가되므로 T4에서 실제로 측정해야 한다. 복원 모델이 원래 옷 밑에 가려진 실제 신체 모습을 알아내는 것은 아니다. 외부 사용자 정확도, 추천 기준, OCR, 어깨/가슴 변형 효과도 미검증이다.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CF9AD-AB5F-D8A9-04BE-D00ACEFFCC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5131127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00EC6-58F2-2910-C867-B0235F8E2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36F07E-B9BE-20CD-93EE-234A6B45EC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A1C379-604E-4279-161A-1A4EDD4FFA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후속 후보: 드러난 영역에만 생성형 인페인팅을 시험한다. 첫 복원 연산 시간은 추가되므로 T4에서 실제로 측정해야 한다. 복원 모델이 원래 옷 밑에 가려진 실제 신체 모습을 알아내는 것은 아니다. 외부 사용자 정확도, 추천 기준, OCR, 어깨/가슴 변형 효과도 미검증이다.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B306B3-B5B9-6958-F34F-BC01035EB6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4680587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후속 후보: 드러난 영역에만 생성형 인페인팅을 시험한다. 첫 복원 연산 시간은 추가되므로 T4에서 실제로 측정해야 한다. 복원 모델이 원래 옷 밑에 가려진 실제 신체 모습을 알아내는 것은 아니다. 외부 사용자 정확도, 추천 기준, OCR, 어깨/가슴 변형 효과도 미검증이다.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76656" y="804672"/>
            <a:ext cx="100584" cy="5129784"/>
          </a:xfrm>
          <a:prstGeom prst="rect">
            <a:avLst/>
          </a:prstGeom>
          <a:solidFill>
            <a:srgbClr val="009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914400"/>
            <a:ext cx="9601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>
                <a:solidFill>
                  <a:srgbClr val="009C95"/>
                </a:solidFill>
                <a:latin typeface="맑은 고딕"/>
              </a:rPr>
              <a:t>FITCHECK  /  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627632"/>
            <a:ext cx="10241280" cy="1572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3700" b="1">
                <a:solidFill>
                  <a:srgbClr val="FFFFFF"/>
                </a:solidFill>
                <a:latin typeface="맑은 고딕"/>
              </a:rPr>
              <a:t>신체 치수 예측부터</a:t>
            </a:r>
          </a:p>
          <a:p>
            <a:pPr algn="l">
              <a:spcAft>
                <a:spcPts val="100"/>
              </a:spcAft>
            </a:pPr>
            <a:r>
              <a:rPr sz="3700" b="1">
                <a:solidFill>
                  <a:srgbClr val="FFFFFF"/>
                </a:solidFill>
                <a:latin typeface="맑은 고딕"/>
              </a:rPr>
              <a:t>사이즈별 합성 실험까지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767328"/>
            <a:ext cx="96926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2000" b="0">
                <a:solidFill>
                  <a:srgbClr val="FFFFFF"/>
                </a:solidFill>
                <a:latin typeface="맑은 고딕"/>
              </a:rPr>
              <a:t>Ridge 예측 · 판매 사이즈 비교 · FASHN 후처리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" y="4782312"/>
            <a:ext cx="4160520" cy="493776"/>
          </a:xfrm>
          <a:prstGeom prst="roundRect">
            <a:avLst>
              <a:gd name="adj" fmla="val 10000"/>
            </a:avLst>
          </a:prstGeom>
          <a:solidFill>
            <a:srgbClr val="009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4873752"/>
            <a:ext cx="3785615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</a:rPr>
              <a:t>신체 예측 모델  RIDGE 회귀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6035040"/>
            <a:ext cx="73152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A8BECA"/>
                </a:solidFill>
                <a:latin typeface="맑은 고딕"/>
              </a:rPr>
              <a:t>현재 진행 현황  |  2026.10.26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009C95"/>
                </a:solidFill>
                <a:latin typeface="맑은 고딕"/>
              </a:rPr>
              <a:t>01 / 프로젝트 방향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2800" b="1">
                <a:solidFill>
                  <a:srgbClr val="0E1A2E"/>
                </a:solidFill>
                <a:latin typeface="맑은 고딕"/>
              </a:rPr>
              <a:t>기준 옷이 있으면 옷끼리, 없으면 신체 예측으로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316736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5F6E7E"/>
                </a:solidFill>
                <a:latin typeface="맑은 고딕"/>
              </a:rPr>
              <a:t>상의 사이즈 비교와 향후 합성 조정을 위한 두 가지 입력 경로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46520"/>
            <a:ext cx="11045952" cy="10972"/>
          </a:xfrm>
          <a:prstGeom prst="rect">
            <a:avLst/>
          </a:prstGeom>
          <a:solidFill>
            <a:srgbClr val="D8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5F6E7E"/>
                </a:solidFill>
                <a:latin typeface="맑은 고딕"/>
              </a:rPr>
              <a:t>FitCheck · 신체 치수 모델 진행 현황 · 2026.10.25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492240"/>
            <a:ext cx="53035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100"/>
              </a:spcAft>
            </a:pPr>
            <a:r>
              <a:rPr sz="1000" b="0">
                <a:solidFill>
                  <a:srgbClr val="5F6E7E"/>
                </a:solidFill>
                <a:latin typeface="맑은 고딕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920240"/>
            <a:ext cx="5166360" cy="2423160"/>
          </a:xfrm>
          <a:prstGeom prst="roundRect">
            <a:avLst>
              <a:gd name="adj" fmla="val 10000"/>
            </a:avLst>
          </a:prstGeom>
          <a:solidFill>
            <a:srgbClr val="DE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1920240"/>
            <a:ext cx="68580" cy="2423160"/>
          </a:xfrm>
          <a:prstGeom prst="rect">
            <a:avLst/>
          </a:prstGeom>
          <a:solidFill>
            <a:srgbClr val="009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2075688"/>
            <a:ext cx="478231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1">
                <a:solidFill>
                  <a:srgbClr val="0E1A2E"/>
                </a:solidFill>
                <a:latin typeface="맑은 고딕"/>
              </a:rPr>
              <a:t>경로 A  |  잘 맞는 기준 상의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542032"/>
            <a:ext cx="4782312" cy="165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기준 옷의 총장 · 어깨너비 · 가슴단면을 직접 입력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→ 새 옷 판매 사이즈와 항목별 비교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18504" y="1920240"/>
            <a:ext cx="5166360" cy="2423160"/>
          </a:xfrm>
          <a:prstGeom prst="roundRect">
            <a:avLst>
              <a:gd name="adj" fmla="val 10000"/>
            </a:avLst>
          </a:prstGeom>
          <a:solidFill>
            <a:srgbClr val="FF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18504" y="1920240"/>
            <a:ext cx="68580" cy="2423160"/>
          </a:xfrm>
          <a:prstGeom prst="rect">
            <a:avLst/>
          </a:prstGeom>
          <a:solidFill>
            <a:srgbClr val="ED6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19672" y="2075688"/>
            <a:ext cx="478231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1">
                <a:solidFill>
                  <a:srgbClr val="0E1A2E"/>
                </a:solidFill>
                <a:latin typeface="맑은 고딕"/>
              </a:rPr>
              <a:t>경로 B  |  기준 옷이 없는 경우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2542032"/>
            <a:ext cx="4782312" cy="165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성별 · 키 · 체중 입력 → 신체 치수 범위 예측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→ 새 옷 실측과 여유분 비교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754880"/>
            <a:ext cx="10799064" cy="859536"/>
          </a:xfrm>
          <a:prstGeom prst="roundRect">
            <a:avLst>
              <a:gd name="adj" fmla="val 10000"/>
            </a:avLst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2688" y="4910328"/>
            <a:ext cx="19202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>
                <a:solidFill>
                  <a:srgbClr val="0E1A2E"/>
                </a:solidFill>
                <a:latin typeface="맑은 고딕"/>
              </a:rPr>
              <a:t>초기 구현 단계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25496" y="4910328"/>
            <a:ext cx="83210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>
                <a:solidFill>
                  <a:srgbClr val="009C95"/>
                </a:solidFill>
                <a:latin typeface="맑은 고딕"/>
              </a:rPr>
              <a:t>기준 옷 직접 입력 + 엑셀 모델 학습·비교·웹 예측까지 완료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009C95"/>
                </a:solidFill>
                <a:latin typeface="맑은 고딕"/>
              </a:rPr>
              <a:t>02 / 데이터와 예측값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2800" b="1">
                <a:solidFill>
                  <a:srgbClr val="0E1A2E"/>
                </a:solidFill>
                <a:latin typeface="맑은 고딕"/>
              </a:rPr>
              <a:t>실측 데이터 5,092명 · 예측 대상은 3개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316736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5F6E7E"/>
                </a:solidFill>
                <a:latin typeface="맑은 고딕"/>
              </a:rPr>
              <a:t>size_data/전처리데이터.xlsx  ·  남 2,319명 / 여 2,773명  ·  제외 0명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46520"/>
            <a:ext cx="11045952" cy="10972"/>
          </a:xfrm>
          <a:prstGeom prst="rect">
            <a:avLst/>
          </a:prstGeom>
          <a:solidFill>
            <a:srgbClr val="D8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5F6E7E"/>
                </a:solidFill>
                <a:latin typeface="맑은 고딕"/>
              </a:rPr>
              <a:t>FitCheck · 신체 치수 모델 진행 현황 · 2026.10.25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492240"/>
            <a:ext cx="53035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100"/>
              </a:spcAft>
            </a:pPr>
            <a:r>
              <a:rPr sz="1000" b="0">
                <a:solidFill>
                  <a:srgbClr val="5F6E7E"/>
                </a:solidFill>
                <a:latin typeface="맑은 고딕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947672"/>
            <a:ext cx="3419856" cy="2112264"/>
          </a:xfrm>
          <a:prstGeom prst="roundRect">
            <a:avLst>
              <a:gd name="adj" fmla="val 10000"/>
            </a:avLst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1947672"/>
            <a:ext cx="68580" cy="2112264"/>
          </a:xfrm>
          <a:prstGeom prst="rect">
            <a:avLst/>
          </a:prstGeom>
          <a:solidFill>
            <a:srgbClr val="009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2103120"/>
            <a:ext cx="3035808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1">
                <a:solidFill>
                  <a:srgbClr val="0E1A2E"/>
                </a:solidFill>
                <a:latin typeface="맑은 고딕"/>
              </a:rPr>
              <a:t>입력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569464"/>
            <a:ext cx="3035808" cy="1344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사용자가 선택한 성별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키(cm) · 체중(kg)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947672"/>
            <a:ext cx="3419856" cy="2112264"/>
          </a:xfrm>
          <a:prstGeom prst="roundRect">
            <a:avLst>
              <a:gd name="adj" fmla="val 10000"/>
            </a:avLst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89120" y="1947672"/>
            <a:ext cx="68580" cy="2112264"/>
          </a:xfrm>
          <a:prstGeom prst="rect">
            <a:avLst/>
          </a:prstGeom>
          <a:solidFill>
            <a:srgbClr val="009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90288" y="2103120"/>
            <a:ext cx="3035808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1">
                <a:solidFill>
                  <a:srgbClr val="0E1A2E"/>
                </a:solidFill>
                <a:latin typeface="맑은 고딕"/>
              </a:rPr>
              <a:t>예측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569464"/>
            <a:ext cx="3035808" cy="1344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어깨사이너비(cm)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신체 기준 총장(cm)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가슴둘레(cm)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947672"/>
            <a:ext cx="3419856" cy="2112264"/>
          </a:xfrm>
          <a:prstGeom prst="roundRect">
            <a:avLst>
              <a:gd name="adj" fmla="val 10000"/>
            </a:avLst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2440" y="1947672"/>
            <a:ext cx="68580" cy="2112264"/>
          </a:xfrm>
          <a:prstGeom prst="rect">
            <a:avLst/>
          </a:prstGeom>
          <a:solidFill>
            <a:srgbClr val="009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93608" y="2103120"/>
            <a:ext cx="3035808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1">
                <a:solidFill>
                  <a:srgbClr val="0E1A2E"/>
                </a:solidFill>
                <a:latin typeface="맑은 고딕"/>
              </a:rPr>
              <a:t>옷 치수와 비교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2569464"/>
            <a:ext cx="3035808" cy="1344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옷 어깨너비 · 옷 총장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옷 가슴단면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389120"/>
            <a:ext cx="10826496" cy="1216152"/>
          </a:xfrm>
          <a:prstGeom prst="roundRect">
            <a:avLst>
              <a:gd name="adj" fmla="val 10000"/>
            </a:avLst>
          </a:prstGeom>
          <a:solidFill>
            <a:srgbClr val="FF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4617720"/>
            <a:ext cx="13716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>
                <a:solidFill>
                  <a:srgbClr val="ED6F5C"/>
                </a:solidFill>
                <a:latin typeface="맑은 고딕"/>
              </a:rPr>
              <a:t>측정 정의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95728" y="4572000"/>
            <a:ext cx="8622792" cy="8138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0">
                <a:solidFill>
                  <a:srgbClr val="1F2F42"/>
                </a:solidFill>
                <a:latin typeface="맑은 고딕"/>
              </a:rPr>
              <a:t>신체 기준 총장 = 목뒤높이 − 위앞엉덩뼈가시높이</a:t>
            </a:r>
          </a:p>
          <a:p>
            <a:pPr algn="l">
              <a:spcAft>
                <a:spcPts val="100"/>
              </a:spcAft>
            </a:pPr>
            <a:r>
              <a:rPr sz="1500" b="0">
                <a:solidFill>
                  <a:srgbClr val="1F2F42"/>
                </a:solidFill>
                <a:latin typeface="맑은 고딕"/>
              </a:rPr>
              <a:t>몸 가슴둘레 / 2는 옷 가슴단면과 비교할 때만 사용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009C95"/>
                </a:solidFill>
                <a:latin typeface="맑은 고딕"/>
              </a:rPr>
              <a:t>03 / 평가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2800" b="1">
                <a:solidFill>
                  <a:srgbClr val="0E1A2E"/>
                </a:solidFill>
                <a:latin typeface="맑은 고딕"/>
              </a:rPr>
              <a:t>모델 선택과 최종 평가는 사람 단위로 분리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316736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5F6E7E"/>
                </a:solidFill>
                <a:latin typeface="맑은 고딕"/>
              </a:rPr>
              <a:t>학습 자료의 교차검증 MAE만 보고 모델을 선택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46520"/>
            <a:ext cx="11045952" cy="10972"/>
          </a:xfrm>
          <a:prstGeom prst="rect">
            <a:avLst/>
          </a:prstGeom>
          <a:solidFill>
            <a:srgbClr val="D8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5F6E7E"/>
                </a:solidFill>
                <a:latin typeface="맑은 고딕"/>
              </a:rPr>
              <a:t>FitCheck · 신체 치수 모델 진행 현황 · 2026.10.25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492240"/>
            <a:ext cx="53035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100"/>
              </a:spcAft>
            </a:pPr>
            <a:r>
              <a:rPr sz="1000" b="0">
                <a:solidFill>
                  <a:srgbClr val="5F6E7E"/>
                </a:solidFill>
                <a:latin typeface="맑은 고딕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" y="2075688"/>
            <a:ext cx="3127248" cy="2048256"/>
          </a:xfrm>
          <a:prstGeom prst="roundRect">
            <a:avLst>
              <a:gd name="adj" fmla="val 10000"/>
            </a:avLst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7824" y="2286000"/>
            <a:ext cx="27432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2700" b="1">
                <a:solidFill>
                  <a:srgbClr val="009C95"/>
                </a:solidFill>
                <a:latin typeface="맑은 고딕"/>
              </a:rPr>
              <a:t>3,054명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852928"/>
            <a:ext cx="27432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800" b="1">
                <a:solidFill>
                  <a:srgbClr val="0E1A2E"/>
                </a:solidFill>
                <a:latin typeface="맑은 고딕"/>
              </a:rPr>
              <a:t>학습 60%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374136"/>
            <a:ext cx="27432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F2F42"/>
                </a:solidFill>
                <a:latin typeface="맑은 고딕"/>
              </a:rPr>
              <a:t>5-fold CV로 평균·Ridge·Boosting 비교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17136" y="2075688"/>
            <a:ext cx="3127248" cy="2048256"/>
          </a:xfrm>
          <a:prstGeom prst="roundRect">
            <a:avLst>
              <a:gd name="adj" fmla="val 10000"/>
            </a:avLst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00016" y="2286000"/>
            <a:ext cx="27432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2700" b="1">
                <a:solidFill>
                  <a:srgbClr val="009C95"/>
                </a:solidFill>
                <a:latin typeface="맑은 고딕"/>
              </a:rPr>
              <a:t>1,019명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0016" y="2852928"/>
            <a:ext cx="27432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800" b="1">
                <a:solidFill>
                  <a:srgbClr val="0E1A2E"/>
                </a:solidFill>
                <a:latin typeface="맑은 고딕"/>
              </a:rPr>
              <a:t>범위 보정 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0016" y="3374136"/>
            <a:ext cx="27432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F2F42"/>
                </a:solidFill>
                <a:latin typeface="맑은 고딕"/>
              </a:rPr>
              <a:t>절대 오차로 90% 목표 예측 구간 계산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39327" y="2075688"/>
            <a:ext cx="3127248" cy="2048256"/>
          </a:xfrm>
          <a:prstGeom prst="roundRect">
            <a:avLst>
              <a:gd name="adj" fmla="val 10000"/>
            </a:avLst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22207" y="2286000"/>
            <a:ext cx="27432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2700" b="1">
                <a:solidFill>
                  <a:srgbClr val="009C95"/>
                </a:solidFill>
                <a:latin typeface="맑은 고딕"/>
              </a:rPr>
              <a:t>1,019명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22207" y="2852928"/>
            <a:ext cx="27432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800" b="1">
                <a:solidFill>
                  <a:srgbClr val="0E1A2E"/>
                </a:solidFill>
                <a:latin typeface="맑은 고딕"/>
              </a:rPr>
              <a:t>최종 평가 20%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22207" y="3374136"/>
            <a:ext cx="27432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F2F42"/>
                </a:solidFill>
                <a:latin typeface="맑은 고딕"/>
              </a:rPr>
              <a:t>MAE와 구간 실제 포함률 확인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50208" y="2798064"/>
            <a:ext cx="48463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2500" b="1">
                <a:solidFill>
                  <a:srgbClr val="009C95"/>
                </a:solidFill>
                <a:latin typeface="맑은 고딕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2798064"/>
            <a:ext cx="48463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2500" b="1">
                <a:solidFill>
                  <a:srgbClr val="009C95"/>
                </a:solidFill>
                <a:latin typeface="맑은 고딕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4944" y="4590288"/>
            <a:ext cx="10771632" cy="1014984"/>
          </a:xfrm>
          <a:prstGeom prst="roundRect">
            <a:avLst>
              <a:gd name="adj" fmla="val 10000"/>
            </a:avLst>
          </a:prstGeom>
          <a:solidFill>
            <a:srgbClr val="DE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2688" y="4846320"/>
            <a:ext cx="15544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>
                <a:solidFill>
                  <a:srgbClr val="009C95"/>
                </a:solidFill>
                <a:latin typeface="맑은 고딕"/>
              </a:rPr>
              <a:t>누출 방지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4846320"/>
            <a:ext cx="8686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0">
                <a:solidFill>
                  <a:srgbClr val="1F2F42"/>
                </a:solidFill>
                <a:latin typeface="맑은 고딕"/>
              </a:rPr>
              <a:t>ID·정답 치수를 입력 특성에서 제외 · 사람 중복 없는 분할 · 최종 평가로 모델 재선택 없음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009C95"/>
                </a:solidFill>
                <a:latin typeface="맑은 고딕"/>
              </a:rPr>
              <a:t>04 / 모델 선택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2800" b="1">
                <a:solidFill>
                  <a:srgbClr val="0E1A2E"/>
                </a:solidFill>
                <a:latin typeface="맑은 고딕"/>
              </a:rPr>
              <a:t>6개 성별·항목 조합 모두 Ridge가 CV 최저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316736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5F6E7E"/>
                </a:solidFill>
                <a:latin typeface="맑은 고딕"/>
              </a:rPr>
              <a:t>단위: cm · 낮을수록 좋음 · 아래 수치는 학습 자료 5-fold 교차검증 MAE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46520"/>
            <a:ext cx="11045952" cy="10972"/>
          </a:xfrm>
          <a:prstGeom prst="rect">
            <a:avLst/>
          </a:prstGeom>
          <a:solidFill>
            <a:srgbClr val="D8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5F6E7E"/>
                </a:solidFill>
                <a:latin typeface="맑은 고딕"/>
              </a:rPr>
              <a:t>FitCheck · 신체 치수 모델 진행 현황 · 2026.10.25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492240"/>
            <a:ext cx="53035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100"/>
              </a:spcAft>
            </a:pPr>
            <a:r>
              <a:rPr sz="1000" b="0">
                <a:solidFill>
                  <a:srgbClr val="5F6E7E"/>
                </a:solidFill>
                <a:latin typeface="맑은 고딕"/>
              </a:rPr>
              <a:t>05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65376"/>
            <a:ext cx="9500616" cy="484632"/>
          </a:xfrm>
          <a:prstGeom prst="rect">
            <a:avLst/>
          </a:prstGeom>
          <a:solidFill>
            <a:srgbClr val="DE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901952"/>
            <a:ext cx="832104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5F6E7E"/>
                </a:solidFill>
                <a:latin typeface="맑은 고딕"/>
              </a:rPr>
              <a:t>성별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19656" y="1901952"/>
            <a:ext cx="2359151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5F6E7E"/>
                </a:solidFill>
                <a:latin typeface="맑은 고딕"/>
              </a:rPr>
              <a:t>예측 항목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1901952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5F6E7E"/>
                </a:solidFill>
                <a:latin typeface="맑은 고딕"/>
              </a:rPr>
              <a:t>성별 평균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6792" y="1901952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5F6E7E"/>
                </a:solidFill>
                <a:latin typeface="맑은 고딕"/>
              </a:rPr>
              <a:t>Ridge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0183" y="1901952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5F6E7E"/>
                </a:solidFill>
                <a:latin typeface="맑은 고딕"/>
              </a:rPr>
              <a:t>Boosting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359152"/>
            <a:ext cx="9500616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2395728"/>
            <a:ext cx="832104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19656" y="2395728"/>
            <a:ext cx="2359151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어깨사이너비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2395728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1.483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2395728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009C95"/>
                </a:solidFill>
                <a:latin typeface="맑은 고딕"/>
              </a:rPr>
              <a:t>1.180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0183" y="2395728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1.191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2843784"/>
            <a:ext cx="9500616" cy="484632"/>
          </a:xfrm>
          <a:prstGeom prst="rect">
            <a:avLst/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2880360"/>
            <a:ext cx="832104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19656" y="2880360"/>
            <a:ext cx="2359151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신체 기준 총장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288036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2.095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36792" y="288036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009C95"/>
                </a:solidFill>
                <a:latin typeface="맑은 고딕"/>
              </a:rPr>
              <a:t>1.732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0183" y="288036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1.754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3328416"/>
            <a:ext cx="9500616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3364992"/>
            <a:ext cx="832104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19656" y="3364992"/>
            <a:ext cx="2359151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가슴둘레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400" y="3364992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5.069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6792" y="3364992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009C95"/>
                </a:solidFill>
                <a:latin typeface="맑은 고딕"/>
              </a:rPr>
              <a:t>2.484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0183" y="3364992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2.486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3813048"/>
            <a:ext cx="9500616" cy="484632"/>
          </a:xfrm>
          <a:prstGeom prst="rect">
            <a:avLst/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2960" y="3849624"/>
            <a:ext cx="832104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19656" y="3849624"/>
            <a:ext cx="2359151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어깨사이너비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3849624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1.257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36792" y="3849624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009C95"/>
                </a:solidFill>
                <a:latin typeface="맑은 고딕"/>
              </a:rPr>
              <a:t>1.037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30183" y="3849624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1.053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4297680"/>
            <a:ext cx="9500616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2960" y="4334256"/>
            <a:ext cx="832104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19656" y="4334256"/>
            <a:ext cx="2359151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신체 기준 총장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43400" y="4334256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2.150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36792" y="4334256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009C95"/>
                </a:solidFill>
                <a:latin typeface="맑은 고딕"/>
              </a:rPr>
              <a:t>1.788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30183" y="4334256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1.796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4782312"/>
            <a:ext cx="9500616" cy="484632"/>
          </a:xfrm>
          <a:prstGeom prst="rect">
            <a:avLst/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22960" y="4818888"/>
            <a:ext cx="832104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여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19656" y="4818888"/>
            <a:ext cx="2359151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가슴둘레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43400" y="4818888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4.960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36792" y="4818888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009C95"/>
                </a:solidFill>
                <a:latin typeface="맑은 고딕"/>
              </a:rPr>
              <a:t>2.192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30183" y="4818888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2.203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31520" y="5541264"/>
            <a:ext cx="10396728" cy="466344"/>
          </a:xfrm>
          <a:prstGeom prst="roundRect">
            <a:avLst>
              <a:gd name="adj" fmla="val 10000"/>
            </a:avLst>
          </a:prstGeom>
          <a:solidFill>
            <a:srgbClr val="FF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32688" y="5641848"/>
            <a:ext cx="100126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F2F42"/>
                </a:solidFill>
                <a:latin typeface="맑은 고딕"/>
              </a:rPr>
              <a:t>Ridge와 Boosting 차이는 일부 항목에서 작다. 선택 기준은 CV이며 최종 평가값으로 바꾸지 않았다.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009C95"/>
                </a:solidFill>
                <a:latin typeface="맑은 고딕"/>
              </a:rPr>
              <a:t>05 / 최종 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2800" b="1">
                <a:solidFill>
                  <a:srgbClr val="0E1A2E"/>
                </a:solidFill>
                <a:latin typeface="맑은 고딕"/>
              </a:rPr>
              <a:t>선택된 Ridge의 성별·항목별 오차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316736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5F6E7E"/>
                </a:solidFill>
                <a:latin typeface="맑은 고딕"/>
              </a:rPr>
              <a:t>최종 평가 1,019명 · 예측 구간은 별도 보정 자료로 만든 90% 목표 범위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46520"/>
            <a:ext cx="11045952" cy="10972"/>
          </a:xfrm>
          <a:prstGeom prst="rect">
            <a:avLst/>
          </a:prstGeom>
          <a:solidFill>
            <a:srgbClr val="D8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5F6E7E"/>
                </a:solidFill>
                <a:latin typeface="맑은 고딕"/>
              </a:rPr>
              <a:t>FitCheck · 신체 치수 모델 진행 현황 · 2026.10.25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492240"/>
            <a:ext cx="53035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100"/>
              </a:spcAft>
            </a:pPr>
            <a:r>
              <a:rPr sz="1000" b="0">
                <a:solidFill>
                  <a:srgbClr val="5F6E7E"/>
                </a:solidFill>
                <a:latin typeface="맑은 고딕"/>
              </a:rPr>
              <a:t>06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47088"/>
            <a:ext cx="10195560" cy="484632"/>
          </a:xfrm>
          <a:prstGeom prst="rect">
            <a:avLst/>
          </a:prstGeom>
          <a:solidFill>
            <a:srgbClr val="DE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883664"/>
            <a:ext cx="795528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5F6E7E"/>
                </a:solidFill>
                <a:latin typeface="맑은 고딕"/>
              </a:rPr>
              <a:t>성별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1883664"/>
            <a:ext cx="2852927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5F6E7E"/>
                </a:solidFill>
                <a:latin typeface="맑은 고딕"/>
              </a:rPr>
              <a:t>예측 항목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1883664"/>
            <a:ext cx="1801368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5F6E7E"/>
                </a:solidFill>
                <a:latin typeface="맑은 고딕"/>
              </a:rPr>
              <a:t>평가 MAE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1883664"/>
            <a:ext cx="1801368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5F6E7E"/>
                </a:solidFill>
                <a:latin typeface="맑은 고딕"/>
              </a:rPr>
              <a:t>구간 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1883664"/>
            <a:ext cx="2121408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5F6E7E"/>
                </a:solidFill>
                <a:latin typeface="맑은 고딕"/>
              </a:rPr>
              <a:t>실제 포함률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331720"/>
            <a:ext cx="1019556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2368296"/>
            <a:ext cx="795528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2368296"/>
            <a:ext cx="2852927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어깨사이너비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2368296"/>
            <a:ext cx="1801368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009C95"/>
                </a:solidFill>
                <a:latin typeface="맑은 고딕"/>
              </a:rPr>
              <a:t>1.21 cm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368296"/>
            <a:ext cx="1801368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2.47 cm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2368296"/>
            <a:ext cx="2121408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89.4%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2816352"/>
            <a:ext cx="1019556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2852928"/>
            <a:ext cx="795528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2852928"/>
            <a:ext cx="2852927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신체 기준 총장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2852928"/>
            <a:ext cx="1801368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009C95"/>
                </a:solidFill>
                <a:latin typeface="맑은 고딕"/>
              </a:rPr>
              <a:t>1.71 cm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2852928"/>
            <a:ext cx="1801368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3.46 cm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2852928"/>
            <a:ext cx="2121408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89.0%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3300984"/>
            <a:ext cx="1019556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3337560"/>
            <a:ext cx="795528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83080" y="3337560"/>
            <a:ext cx="2852927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가슴둘레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3337560"/>
            <a:ext cx="1801368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009C95"/>
                </a:solidFill>
                <a:latin typeface="맑은 고딕"/>
              </a:rPr>
              <a:t>2.37 cm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3337560"/>
            <a:ext cx="1801368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5.48 cm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32520" y="3337560"/>
            <a:ext cx="2121408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93.3%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3785616"/>
            <a:ext cx="10195560" cy="484632"/>
          </a:xfrm>
          <a:prstGeom prst="rect">
            <a:avLst/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2960" y="3822192"/>
            <a:ext cx="795528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83080" y="3822192"/>
            <a:ext cx="2852927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어깨사이너비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3822192"/>
            <a:ext cx="1801368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009C95"/>
                </a:solidFill>
                <a:latin typeface="맑은 고딕"/>
              </a:rPr>
              <a:t>1.09 cm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3822192"/>
            <a:ext cx="1801368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2.19 cm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32520" y="3822192"/>
            <a:ext cx="2121408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89.0%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4270248"/>
            <a:ext cx="10195560" cy="484632"/>
          </a:xfrm>
          <a:prstGeom prst="rect">
            <a:avLst/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2960" y="4306824"/>
            <a:ext cx="795528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83080" y="4306824"/>
            <a:ext cx="2852927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신체 기준 총장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00600" y="4306824"/>
            <a:ext cx="1801368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009C95"/>
                </a:solidFill>
                <a:latin typeface="맑은 고딕"/>
              </a:rPr>
              <a:t>1.81 cm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6560" y="4306824"/>
            <a:ext cx="1801368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3.72 cm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32520" y="4306824"/>
            <a:ext cx="2121408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90.6%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4754880"/>
            <a:ext cx="10195560" cy="484632"/>
          </a:xfrm>
          <a:prstGeom prst="rect">
            <a:avLst/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22960" y="4791456"/>
            <a:ext cx="795528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여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783080" y="4791456"/>
            <a:ext cx="2852927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가슴둘레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00600" y="4791456"/>
            <a:ext cx="1801368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009C95"/>
                </a:solidFill>
                <a:latin typeface="맑은 고딕"/>
              </a:rPr>
              <a:t>2.15 cm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66560" y="4791456"/>
            <a:ext cx="1801368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4.51 cm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32520" y="4791456"/>
            <a:ext cx="2121408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90.3%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31520" y="5522976"/>
            <a:ext cx="10195560" cy="484632"/>
          </a:xfrm>
          <a:prstGeom prst="roundRect">
            <a:avLst>
              <a:gd name="adj" fmla="val 10000"/>
            </a:avLst>
          </a:prstGeom>
          <a:solidFill>
            <a:srgbClr val="FF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50976" y="5632704"/>
            <a:ext cx="98572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F2F42"/>
                </a:solidFill>
                <a:latin typeface="맑은 고딕"/>
              </a:rPr>
              <a:t>예측 구간은 성별·부위별 주변적 범위이며 한 사람의 세 치수를 동시에 포함한다는 보장은 없다.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009C95"/>
                </a:solidFill>
                <a:latin typeface="맑은 고딕"/>
              </a:rPr>
              <a:t>06 / 동작 확인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2800" b="1">
                <a:solidFill>
                  <a:srgbClr val="0E1A2E"/>
                </a:solidFill>
                <a:latin typeface="맑은 고딕"/>
              </a:rPr>
              <a:t>첫 단계에서 만든 신체 치수 디버거 2개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316736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5F6E7E"/>
                </a:solidFill>
                <a:latin typeface="맑은 고딕"/>
              </a:rPr>
              <a:t>직접 입력 경로와 모델 예측 경로를 각각 검증할 수 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46520"/>
            <a:ext cx="11045952" cy="10972"/>
          </a:xfrm>
          <a:prstGeom prst="rect">
            <a:avLst/>
          </a:prstGeom>
          <a:solidFill>
            <a:srgbClr val="D8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5F6E7E"/>
                </a:solidFill>
                <a:latin typeface="맑은 고딕"/>
              </a:rPr>
              <a:t>FitCheck · 신체 치수 모델 진행 현황 · 2026.10.25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492240"/>
            <a:ext cx="53035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100"/>
              </a:spcAft>
            </a:pPr>
            <a:r>
              <a:rPr sz="1000" b="0">
                <a:solidFill>
                  <a:srgbClr val="5F6E7E"/>
                </a:solidFill>
                <a:latin typeface="맑은 고딕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947672"/>
            <a:ext cx="5193792" cy="2907792"/>
          </a:xfrm>
          <a:prstGeom prst="roundRect">
            <a:avLst>
              <a:gd name="adj" fmla="val 10000"/>
            </a:avLst>
          </a:prstGeom>
          <a:solidFill>
            <a:srgbClr val="DE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13232" y="1947672"/>
            <a:ext cx="68580" cy="2907792"/>
          </a:xfrm>
          <a:prstGeom prst="rect">
            <a:avLst/>
          </a:prstGeom>
          <a:solidFill>
            <a:srgbClr val="009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4809744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800" b="1">
                <a:solidFill>
                  <a:srgbClr val="0E1A2E"/>
                </a:solidFill>
                <a:latin typeface="맑은 고딕"/>
              </a:rPr>
              <a:t>1단계  |  기준 옷 치수 입력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69464"/>
            <a:ext cx="4809744" cy="21396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총장 · 어깨너비 · 가슴단면 입력 및 검증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값 수정 시 확인 상태 초기화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실행: scripts/debug_reference_size.py --ui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주소: localhost:7863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1947672"/>
            <a:ext cx="5193792" cy="2907792"/>
          </a:xfrm>
          <a:prstGeom prst="roundRect">
            <a:avLst>
              <a:gd name="adj" fmla="val 10000"/>
            </a:avLst>
          </a:prstGeom>
          <a:solidFill>
            <a:srgbClr val="FF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36208" y="1947672"/>
            <a:ext cx="68580" cy="2907792"/>
          </a:xfrm>
          <a:prstGeom prst="rect">
            <a:avLst/>
          </a:prstGeom>
          <a:solidFill>
            <a:srgbClr val="ED6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37376" y="2103120"/>
            <a:ext cx="4809744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800" b="1">
                <a:solidFill>
                  <a:srgbClr val="0E1A2E"/>
                </a:solidFill>
                <a:latin typeface="맑은 고딕"/>
              </a:rPr>
              <a:t>2단계  |  신체 모델 예측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2569464"/>
            <a:ext cx="4809744" cy="21396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성별 · 키 · 체중 → 세 신체 치수와 범위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모델별 결과 / 선택적 실측 오차 대조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실행: scripts/debug_body_model.py --ui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주소: localhost:7864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5294376"/>
            <a:ext cx="1042416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>
                <a:solidFill>
                  <a:srgbClr val="0E1A2E"/>
                </a:solidFill>
                <a:latin typeface="맑은 고딕"/>
              </a:rPr>
              <a:t>검증: 관련 테스트 9개 통과 · 저장 모델 불러오기 및 웹 API 예측 확인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009C95"/>
                </a:solidFill>
                <a:latin typeface="맑은 고딕"/>
              </a:rPr>
              <a:t>07 / 이전 실험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2800" b="1">
                <a:solidFill>
                  <a:srgbClr val="0E1A2E"/>
                </a:solidFill>
                <a:latin typeface="맑은 고딕"/>
              </a:rPr>
              <a:t>사진 측정과 가상 피팅의 실험 결과를 보존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316736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5F6E7E"/>
                </a:solidFill>
                <a:latin typeface="맑은 고딕"/>
              </a:rPr>
              <a:t>새 신체 예측 경로를 택하게 된 배경과 기존 합성 앱의 상태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46520"/>
            <a:ext cx="11045952" cy="10972"/>
          </a:xfrm>
          <a:prstGeom prst="rect">
            <a:avLst/>
          </a:prstGeom>
          <a:solidFill>
            <a:srgbClr val="D8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5F6E7E"/>
                </a:solidFill>
                <a:latin typeface="맑은 고딕"/>
              </a:rPr>
              <a:t>FitCheck · 신체 치수 모델 진행 현황 · 2026.10.25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492240"/>
            <a:ext cx="53035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100"/>
              </a:spcAft>
            </a:pPr>
            <a:r>
              <a:rPr sz="1000" b="0">
                <a:solidFill>
                  <a:srgbClr val="5F6E7E"/>
                </a:solidFill>
                <a:latin typeface="맑은 고딕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" y="1938528"/>
            <a:ext cx="5193792" cy="2404872"/>
          </a:xfrm>
          <a:prstGeom prst="roundRect">
            <a:avLst>
              <a:gd name="adj" fmla="val 10000"/>
            </a:avLst>
          </a:prstGeom>
          <a:solidFill>
            <a:srgbClr val="FF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22376" y="1938528"/>
            <a:ext cx="68580" cy="2404872"/>
          </a:xfrm>
          <a:prstGeom prst="rect">
            <a:avLst/>
          </a:prstGeom>
          <a:solidFill>
            <a:srgbClr val="ED6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23544" y="2093976"/>
            <a:ext cx="4809744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1">
                <a:solidFill>
                  <a:srgbClr val="0E1A2E"/>
                </a:solidFill>
                <a:latin typeface="맑은 고딕"/>
              </a:rPr>
              <a:t>사진 기반 치수 측정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2560320"/>
            <a:ext cx="4809744" cy="1636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MediaPipe 어깨 관절점과 입력 키를 이용한 환산 실험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사진 구도·원근·자세에 따라 결과가 흔들림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고정 보정계수 1.28의 일반화는 미검증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1938528"/>
            <a:ext cx="5193792" cy="2404872"/>
          </a:xfrm>
          <a:prstGeom prst="roundRect">
            <a:avLst>
              <a:gd name="adj" fmla="val 10000"/>
            </a:avLst>
          </a:prstGeom>
          <a:solidFill>
            <a:srgbClr val="DE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27064" y="1938528"/>
            <a:ext cx="68580" cy="2404872"/>
          </a:xfrm>
          <a:prstGeom prst="rect">
            <a:avLst/>
          </a:prstGeom>
          <a:solidFill>
            <a:srgbClr val="009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28231" y="2093976"/>
            <a:ext cx="4809744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1">
                <a:solidFill>
                  <a:srgbClr val="0E1A2E"/>
                </a:solidFill>
                <a:latin typeface="맑은 고딕"/>
              </a:rPr>
              <a:t>기존 가상 피팅 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1" y="2560320"/>
            <a:ext cx="4809744" cy="1636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CatVTON 속도·품질 실험 후 FASHN을 앱에 연결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FitDiT도 비교했으나 정핏 조정 실험에서 한계 확인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이후 FASHN 기본 합성에 치수 후처리를 연결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" y="4736592"/>
            <a:ext cx="10698480" cy="804672"/>
          </a:xfrm>
          <a:prstGeom prst="roundRect">
            <a:avLst>
              <a:gd name="adj" fmla="val 10000"/>
            </a:avLst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1832" y="4919472"/>
            <a:ext cx="978408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>
                <a:solidFill>
                  <a:srgbClr val="009C95"/>
                </a:solidFill>
                <a:latin typeface="맑은 고딕"/>
              </a:rPr>
              <a:t>판단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11095" y="4919472"/>
            <a:ext cx="909828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1">
                <a:solidFill>
                  <a:srgbClr val="1F2F42"/>
                </a:solidFill>
                <a:latin typeface="맑은 고딕"/>
              </a:rPr>
              <a:t>기준 옷 비교와 엑셀 예측을 신체 치수 입력 경로로 정했다.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009C95"/>
                </a:solidFill>
                <a:latin typeface="맑은 고딕"/>
              </a:rPr>
              <a:t>08 / 해석과 한계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2800" b="1">
                <a:solidFill>
                  <a:srgbClr val="0E1A2E"/>
                </a:solidFill>
                <a:latin typeface="맑은 고딕"/>
              </a:rPr>
              <a:t>오차 수치는 모델 성능이지 실제 착용 핏 정확도가 아니다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316736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5F6E7E"/>
                </a:solidFill>
                <a:latin typeface="맑은 고딕"/>
              </a:rPr>
              <a:t>발표 시 신체 치수, 옷 실측, 사진상 폭을 구분해서 설명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46520"/>
            <a:ext cx="11045952" cy="10972"/>
          </a:xfrm>
          <a:prstGeom prst="rect">
            <a:avLst/>
          </a:prstGeom>
          <a:solidFill>
            <a:srgbClr val="D8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5F6E7E"/>
                </a:solidFill>
                <a:latin typeface="맑은 고딕"/>
              </a:rPr>
              <a:t>FitCheck · 신체 치수 모델 진행 현황 · 2026.10.25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492240"/>
            <a:ext cx="53035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100"/>
              </a:spcAft>
            </a:pPr>
            <a:r>
              <a:rPr sz="1000" b="0">
                <a:solidFill>
                  <a:srgbClr val="5F6E7E"/>
                </a:solidFill>
                <a:latin typeface="맑은 고딕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" y="1956816"/>
            <a:ext cx="5193792" cy="1435608"/>
          </a:xfrm>
          <a:prstGeom prst="roundRect">
            <a:avLst>
              <a:gd name="adj" fmla="val 10000"/>
            </a:avLst>
          </a:prstGeom>
          <a:solidFill>
            <a:srgbClr val="FF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22376" y="1956816"/>
            <a:ext cx="68580" cy="1435608"/>
          </a:xfrm>
          <a:prstGeom prst="rect">
            <a:avLst/>
          </a:prstGeom>
          <a:solidFill>
            <a:srgbClr val="ED6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23544" y="2112264"/>
            <a:ext cx="4809744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>
                <a:solidFill>
                  <a:srgbClr val="0E1A2E"/>
                </a:solidFill>
                <a:latin typeface="맑은 고딕"/>
              </a:rPr>
              <a:t>사진 측정의 한계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2578608"/>
            <a:ext cx="4809744" cy="6675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F2F42"/>
                </a:solidFill>
                <a:latin typeface="맑은 고딕"/>
              </a:rPr>
              <a:t>구도·원근·옷 때문에 어깨 픽셀 측정이 흔들려 기본 예측 경로에서 제외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1956816"/>
            <a:ext cx="5193792" cy="1435608"/>
          </a:xfrm>
          <a:prstGeom prst="roundRect">
            <a:avLst>
              <a:gd name="adj" fmla="val 10000"/>
            </a:avLst>
          </a:prstGeom>
          <a:solidFill>
            <a:srgbClr val="FF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27064" y="1956816"/>
            <a:ext cx="68580" cy="1435608"/>
          </a:xfrm>
          <a:prstGeom prst="rect">
            <a:avLst/>
          </a:prstGeom>
          <a:solidFill>
            <a:srgbClr val="ED6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28231" y="2112264"/>
            <a:ext cx="4809744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>
                <a:solidFill>
                  <a:srgbClr val="0E1A2E"/>
                </a:solidFill>
                <a:latin typeface="맑은 고딕"/>
              </a:rPr>
              <a:t>평가의 한계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1" y="2578608"/>
            <a:ext cx="4809744" cy="6675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F2F42"/>
                </a:solidFill>
                <a:latin typeface="맑은 고딕"/>
              </a:rPr>
              <a:t>동일 조사자료 내 무작위 분할 결과. 외부 사용자에서의 정확도는 미검증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" y="3703320"/>
            <a:ext cx="5193792" cy="1435608"/>
          </a:xfrm>
          <a:prstGeom prst="roundRect">
            <a:avLst>
              <a:gd name="adj" fmla="val 10000"/>
            </a:avLst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22376" y="3703320"/>
            <a:ext cx="68580" cy="1435608"/>
          </a:xfrm>
          <a:prstGeom prst="rect">
            <a:avLst/>
          </a:prstGeom>
          <a:solidFill>
            <a:srgbClr val="009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3544" y="3858768"/>
            <a:ext cx="4809744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>
                <a:solidFill>
                  <a:srgbClr val="0E1A2E"/>
                </a:solidFill>
                <a:latin typeface="맑은 고딕"/>
              </a:rPr>
              <a:t>측정 정의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" y="4325112"/>
            <a:ext cx="4809744" cy="6675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F2F42"/>
                </a:solidFill>
                <a:latin typeface="맑은 고딕"/>
              </a:rPr>
              <a:t>신체 기준 총장은 옷 총장과 다르고 몸 둘레의 절반은 사진 정면 폭이 아님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27064" y="3703320"/>
            <a:ext cx="5193792" cy="1435608"/>
          </a:xfrm>
          <a:prstGeom prst="roundRect">
            <a:avLst>
              <a:gd name="adj" fmla="val 10000"/>
            </a:avLst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27064" y="3703320"/>
            <a:ext cx="68580" cy="1435608"/>
          </a:xfrm>
          <a:prstGeom prst="rect">
            <a:avLst/>
          </a:prstGeom>
          <a:solidFill>
            <a:srgbClr val="009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28231" y="3858768"/>
            <a:ext cx="4809744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>
                <a:solidFill>
                  <a:srgbClr val="0E1A2E"/>
                </a:solidFill>
                <a:latin typeface="맑은 고딕"/>
              </a:rPr>
              <a:t>현재 제품 범위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1" y="4325112"/>
            <a:ext cx="4809744" cy="6675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F2F42"/>
                </a:solidFill>
                <a:latin typeface="맑은 고딕"/>
              </a:rPr>
              <a:t>S/M/L 치수 비교·후처리 실험 연결; OCR·정확도 검증은 후속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009C95"/>
                </a:solidFill>
                <a:latin typeface="맑은 고딕"/>
              </a:rPr>
              <a:t>09 / 이후 진행 방향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2800" b="1">
                <a:solidFill>
                  <a:srgbClr val="0E1A2E"/>
                </a:solidFill>
                <a:latin typeface="맑은 고딕"/>
              </a:rPr>
              <a:t>Ridge 비교에서 FASHN 합성 후처리까지 확장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316736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5F6E7E"/>
                </a:solidFill>
                <a:latin typeface="맑은 고딕"/>
              </a:rPr>
              <a:t>새 옷 추천과 이미지 합성 조정은 각각 별도의 검증 단계를 거친다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46520"/>
            <a:ext cx="11045952" cy="10972"/>
          </a:xfrm>
          <a:prstGeom prst="rect">
            <a:avLst/>
          </a:prstGeom>
          <a:solidFill>
            <a:srgbClr val="D8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5F6E7E"/>
                </a:solidFill>
                <a:latin typeface="맑은 고딕"/>
              </a:rPr>
              <a:t>FitCheck · 신체 치수 모델 진행 현황 · 2026.10.25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492240"/>
            <a:ext cx="53035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100"/>
              </a:spcAft>
            </a:pPr>
            <a:r>
              <a:rPr sz="1000" b="0">
                <a:solidFill>
                  <a:srgbClr val="5F6E7E"/>
                </a:solidFill>
                <a:latin typeface="맑은 고딕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" y="1901952"/>
            <a:ext cx="10716768" cy="804672"/>
          </a:xfrm>
          <a:prstGeom prst="roundRect">
            <a:avLst>
              <a:gd name="adj" fmla="val 10000"/>
            </a:avLst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59536" y="2039112"/>
            <a:ext cx="521207" cy="521207"/>
          </a:xfrm>
          <a:prstGeom prst="roundRect">
            <a:avLst>
              <a:gd name="adj" fmla="val 10000"/>
            </a:avLst>
          </a:prstGeom>
          <a:solidFill>
            <a:srgbClr val="009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2" y="2139696"/>
            <a:ext cx="34747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103120"/>
            <a:ext cx="2286000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1">
                <a:solidFill>
                  <a:srgbClr val="0E1A2E"/>
                </a:solidFill>
                <a:latin typeface="맑은 고딕"/>
              </a:rPr>
              <a:t>입력 경로 연결 완료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13632" y="2103120"/>
            <a:ext cx="726948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0">
                <a:solidFill>
                  <a:srgbClr val="1F2F42"/>
                </a:solidFill>
                <a:latin typeface="맑은 고딕"/>
              </a:rPr>
              <a:t>기준 옷이 있으면 옷 실측, 없으면 Ridge 신체 예측 사용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6" y="2898648"/>
            <a:ext cx="10716768" cy="804672"/>
          </a:xfrm>
          <a:prstGeom prst="roundRect">
            <a:avLst>
              <a:gd name="adj" fmla="val 10000"/>
            </a:avLst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59536" y="3035808"/>
            <a:ext cx="521207" cy="521207"/>
          </a:xfrm>
          <a:prstGeom prst="roundRect">
            <a:avLst>
              <a:gd name="adj" fmla="val 10000"/>
            </a:avLst>
          </a:prstGeom>
          <a:solidFill>
            <a:srgbClr val="009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1832" y="3136391"/>
            <a:ext cx="34747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81912" y="3099816"/>
            <a:ext cx="2286000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1">
                <a:solidFill>
                  <a:srgbClr val="0E1A2E"/>
                </a:solidFill>
                <a:latin typeface="맑은 고딕"/>
              </a:rPr>
              <a:t>치수표 수동 입력 완료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13632" y="3099816"/>
            <a:ext cx="726948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0">
                <a:solidFill>
                  <a:srgbClr val="1F2F42"/>
                </a:solidFill>
                <a:latin typeface="맑은 고딕"/>
              </a:rPr>
              <a:t>S/M/L별 총장·어깨·가슴 수동 입력·비교; OCR은 후속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" y="3895344"/>
            <a:ext cx="10716768" cy="804672"/>
          </a:xfrm>
          <a:prstGeom prst="roundRect">
            <a:avLst>
              <a:gd name="adj" fmla="val 10000"/>
            </a:avLst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59536" y="4032504"/>
            <a:ext cx="521207" cy="521207"/>
          </a:xfrm>
          <a:prstGeom prst="roundRect">
            <a:avLst>
              <a:gd name="adj" fmla="val 10000"/>
            </a:avLst>
          </a:prstGeom>
          <a:solidFill>
            <a:srgbClr val="ED6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1832" y="4133087"/>
            <a:ext cx="34747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81912" y="4096511"/>
            <a:ext cx="2286000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1">
                <a:solidFill>
                  <a:srgbClr val="0E1A2E"/>
                </a:solidFill>
                <a:latin typeface="맑은 고딕"/>
              </a:rPr>
              <a:t>실측·외부 검증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13632" y="4096511"/>
            <a:ext cx="726948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0">
                <a:solidFill>
                  <a:srgbClr val="1F2F42"/>
                </a:solidFill>
                <a:latin typeface="맑은 고딕"/>
              </a:rPr>
              <a:t>실제 사용자 오차, 체형별 실패, 추천 경계 사례 기록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6" y="4892040"/>
            <a:ext cx="10716768" cy="804672"/>
          </a:xfrm>
          <a:prstGeom prst="roundRect">
            <a:avLst>
              <a:gd name="adj" fmla="val 10000"/>
            </a:avLst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59536" y="5029200"/>
            <a:ext cx="521207" cy="521207"/>
          </a:xfrm>
          <a:prstGeom prst="roundRect">
            <a:avLst>
              <a:gd name="adj" fmla="val 10000"/>
            </a:avLst>
          </a:prstGeom>
          <a:solidFill>
            <a:srgbClr val="ED6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41832" y="5129784"/>
            <a:ext cx="34747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81912" y="5093208"/>
            <a:ext cx="2286000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1">
                <a:solidFill>
                  <a:srgbClr val="0E1A2E"/>
                </a:solidFill>
                <a:latin typeface="맑은 고딕"/>
              </a:rPr>
              <a:t>합성 후처리 실험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13632" y="5093208"/>
            <a:ext cx="726948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0">
                <a:solidFill>
                  <a:srgbClr val="1F2F42"/>
                </a:solidFill>
                <a:latin typeface="맑은 고딕"/>
              </a:rPr>
              <a:t>총장·몸통 폭 변형 연결; 실제 효과·복원 품질 검증 필요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009C95"/>
                </a:solidFill>
                <a:latin typeface="맑은 고딕"/>
              </a:rPr>
              <a:t>10 / 재현 자료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2800" b="1">
                <a:solidFill>
                  <a:srgbClr val="0E1A2E"/>
                </a:solidFill>
                <a:latin typeface="맑은 고딕"/>
              </a:rPr>
              <a:t>학습 결과와 발표 수치를 다시 확인하는 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316736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5F6E7E"/>
                </a:solidFill>
                <a:latin typeface="맑은 고딕"/>
              </a:rPr>
              <a:t>프로젝트 루트에서 실행 · 저장된 실행 폴더는 덮어쓰지 않음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46520"/>
            <a:ext cx="11045952" cy="10972"/>
          </a:xfrm>
          <a:prstGeom prst="rect">
            <a:avLst/>
          </a:prstGeom>
          <a:solidFill>
            <a:srgbClr val="D8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5F6E7E"/>
                </a:solidFill>
                <a:latin typeface="맑은 고딕"/>
              </a:rPr>
              <a:t>FitCheck · 신체 치수 모델 진행 현황 · 2026.10.25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492240"/>
            <a:ext cx="53035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100"/>
              </a:spcAft>
            </a:pPr>
            <a:r>
              <a:rPr sz="1000" b="0">
                <a:solidFill>
                  <a:srgbClr val="5F6E7E"/>
                </a:solidFill>
                <a:latin typeface="맑은 고딕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29384"/>
            <a:ext cx="10707624" cy="2029968"/>
          </a:xfrm>
          <a:prstGeom prst="roundRect">
            <a:avLst>
              <a:gd name="adj" fmla="val 10000"/>
            </a:avLst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42415" y="2249424"/>
            <a:ext cx="10012680" cy="1408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900" b="0">
                <a:solidFill>
                  <a:srgbClr val="FFFFFF"/>
                </a:solidFill>
                <a:latin typeface="맑은 고딕"/>
              </a:rPr>
              <a:t>python -X utf8 scripts/train_body_model.py</a:t>
            </a:r>
          </a:p>
          <a:p>
            <a:pPr algn="l">
              <a:spcAft>
                <a:spcPts val="100"/>
              </a:spcAft>
            </a:pPr>
            <a:r>
              <a:rPr sz="1900" b="0">
                <a:solidFill>
                  <a:srgbClr val="FFFFFF"/>
                </a:solidFill>
                <a:latin typeface="맑은 고딕"/>
              </a:rPr>
              <a:t>python -X utf8 scripts/debug_body_model.py --ui</a:t>
            </a:r>
          </a:p>
          <a:p>
            <a:pPr algn="l">
              <a:spcAft>
                <a:spcPts val="100"/>
              </a:spcAft>
            </a:pPr>
            <a:r>
              <a:rPr sz="1900" b="0">
                <a:solidFill>
                  <a:srgbClr val="FFFFFF"/>
                </a:solidFill>
                <a:latin typeface="맑은 고딕"/>
              </a:rPr>
              <a:t>python -X utf8 scripts/debug_reference_size.py --ui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51960"/>
            <a:ext cx="10707624" cy="1261872"/>
          </a:xfrm>
          <a:prstGeom prst="roundRect">
            <a:avLst>
              <a:gd name="adj" fmla="val 10000"/>
            </a:avLst>
          </a:prstGeom>
          <a:solidFill>
            <a:srgbClr val="DE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4251960"/>
            <a:ext cx="68580" cy="1261872"/>
          </a:xfrm>
          <a:prstGeom prst="rect">
            <a:avLst/>
          </a:prstGeom>
          <a:solidFill>
            <a:srgbClr val="009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" y="4407408"/>
            <a:ext cx="10323576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>
                <a:solidFill>
                  <a:srgbClr val="0E1A2E"/>
                </a:solidFill>
                <a:latin typeface="맑은 고딕"/>
              </a:rPr>
              <a:t>근거 파일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873752"/>
            <a:ext cx="10323576" cy="493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F2F42"/>
                </a:solidFill>
                <a:latin typeface="맑은 고딕"/>
              </a:rPr>
              <a:t>outputs/body_model/20261025T051648_730977Z/report.md · report.json · metrics.csv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C95"/>
          </a:solidFill>
          <a:ln>
            <a:solidFill>
              <a:srgbClr val="009C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7315200" cy="2743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009C95"/>
                </a:solidFill>
                <a:latin typeface="맑은 고딕"/>
              </a:rPr>
              <a:t>11 / 이후 구현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0972800" cy="59436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2800" b="1">
                <a:solidFill>
                  <a:srgbClr val="0E1A2E"/>
                </a:solidFill>
                <a:latin typeface="맑은 고딕"/>
              </a:rPr>
              <a:t>판매 사이즈표와 두 입력 경로 연결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316736"/>
            <a:ext cx="11064240" cy="41148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5F6E7E"/>
                </a:solidFill>
                <a:latin typeface="맑은 고딕"/>
              </a:rPr>
              <a:t>기준 옷 실측 또는 Ridge 예측값을 새 옷 S/M/L 치수와 비교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46520"/>
            <a:ext cx="11045952" cy="10972"/>
          </a:xfrm>
          <a:prstGeom prst="rect">
            <a:avLst/>
          </a:prstGeom>
          <a:solidFill>
            <a:srgbClr val="DDE5EA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8229600" cy="21945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5F6E7E"/>
                </a:solidFill>
                <a:latin typeface="맑은 고딕"/>
              </a:rPr>
              <a:t>FitCheck · 사이즈 합성 진행 현황 · 2026.10.26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492240"/>
            <a:ext cx="530352" cy="21945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5F6E7E"/>
                </a:solidFill>
                <a:latin typeface="맑은 고딕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20240"/>
            <a:ext cx="3493008" cy="3337560"/>
          </a:xfrm>
          <a:prstGeom prst="roundRect">
            <a:avLst/>
          </a:prstGeom>
          <a:solidFill>
            <a:srgbClr val="F6F8FA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1920240"/>
            <a:ext cx="68580" cy="3337560"/>
          </a:xfrm>
          <a:prstGeom prst="rect">
            <a:avLst/>
          </a:prstGeom>
          <a:solidFill>
            <a:srgbClr val="009C95"/>
          </a:solidFill>
          <a:ln>
            <a:solidFill>
              <a:srgbClr val="009C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103120"/>
            <a:ext cx="3081527" cy="25603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009C95"/>
                </a:solidFill>
                <a:latin typeface="맑은 고딕"/>
              </a:rPr>
              <a:t>01  입력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468880"/>
            <a:ext cx="3081527" cy="307777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2000" b="1" dirty="0" err="1">
                <a:solidFill>
                  <a:srgbClr val="0E1A2E"/>
                </a:solidFill>
                <a:latin typeface="맑은 고딕"/>
              </a:rPr>
              <a:t>기준</a:t>
            </a:r>
            <a:r>
              <a:rPr sz="2000" b="1" dirty="0">
                <a:solidFill>
                  <a:srgbClr val="0E1A2E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0E1A2E"/>
                </a:solidFill>
                <a:latin typeface="맑은 고딕"/>
              </a:rPr>
              <a:t>옷이</a:t>
            </a:r>
            <a:r>
              <a:rPr sz="2000" b="1" dirty="0">
                <a:solidFill>
                  <a:srgbClr val="0E1A2E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0E1A2E"/>
                </a:solidFill>
                <a:latin typeface="맑은 고딕"/>
              </a:rPr>
              <a:t>있을</a:t>
            </a:r>
            <a:r>
              <a:rPr sz="2000" b="1" dirty="0">
                <a:solidFill>
                  <a:srgbClr val="0E1A2E"/>
                </a:solidFill>
                <a:latin typeface="맑은 고딕"/>
              </a:rPr>
              <a:t> 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145536"/>
            <a:ext cx="3054096" cy="42062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5F6E7E"/>
                </a:solidFill>
                <a:latin typeface="맑은 고딕"/>
              </a:rPr>
              <a:t>잘 맞는 옷의 총장·어깨너비·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66744"/>
            <a:ext cx="3054096" cy="42062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5F6E7E"/>
                </a:solidFill>
                <a:latin typeface="맑은 고딕"/>
              </a:rPr>
              <a:t>가슴단면을 직접 입력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187952"/>
            <a:ext cx="3054096" cy="42062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5F6E7E"/>
                </a:solidFill>
                <a:latin typeface="맑은 고딕"/>
              </a:rPr>
              <a:t>새 옷 − 기준 옷 차이 표시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52544" y="1920240"/>
            <a:ext cx="3493008" cy="3337560"/>
          </a:xfrm>
          <a:prstGeom prst="roundRect">
            <a:avLst/>
          </a:prstGeom>
          <a:solidFill>
            <a:srgbClr val="F6F8FA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52544" y="1920240"/>
            <a:ext cx="68580" cy="3337560"/>
          </a:xfrm>
          <a:prstGeom prst="rect">
            <a:avLst/>
          </a:prstGeom>
          <a:solidFill>
            <a:srgbClr val="009C95"/>
          </a:solidFill>
          <a:ln>
            <a:solidFill>
              <a:srgbClr val="009C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62856" y="2103120"/>
            <a:ext cx="3081527" cy="25603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009C95"/>
                </a:solidFill>
                <a:latin typeface="맑은 고딕"/>
              </a:rPr>
              <a:t>02  대체 경로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2856" y="2468880"/>
            <a:ext cx="3081527" cy="47548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E1A2E"/>
                </a:solidFill>
                <a:latin typeface="맑은 고딕"/>
              </a:rPr>
              <a:t>기준 옷이 없을 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2856" y="3145536"/>
            <a:ext cx="3054096" cy="42062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5F6E7E"/>
                </a:solidFill>
                <a:latin typeface="맑은 고딕"/>
              </a:rPr>
              <a:t>성별·키·체중으로 Ridge 예측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2856" y="3666744"/>
            <a:ext cx="3054096" cy="42062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5F6E7E"/>
                </a:solidFill>
                <a:latin typeface="맑은 고딕"/>
              </a:rPr>
              <a:t>신체 치수의 예측 범위 표시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62856" y="4187952"/>
            <a:ext cx="3054096" cy="42062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5F6E7E"/>
                </a:solidFill>
                <a:latin typeface="맑은 고딕"/>
              </a:rPr>
              <a:t>옷 가슴단면과 여유 비교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1920240"/>
            <a:ext cx="3493008" cy="3337560"/>
          </a:xfrm>
          <a:prstGeom prst="roundRect">
            <a:avLst/>
          </a:prstGeom>
          <a:solidFill>
            <a:srgbClr val="F6F8FA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046720" y="1920240"/>
            <a:ext cx="68580" cy="3337560"/>
          </a:xfrm>
          <a:prstGeom prst="rect">
            <a:avLst/>
          </a:prstGeom>
          <a:solidFill>
            <a:srgbClr val="009C95"/>
          </a:solidFill>
          <a:ln>
            <a:solidFill>
              <a:srgbClr val="009C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57032" y="2103120"/>
            <a:ext cx="3081527" cy="25603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009C95"/>
                </a:solidFill>
                <a:latin typeface="맑은 고딕"/>
              </a:rPr>
              <a:t>03  상품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7032" y="2468880"/>
            <a:ext cx="3081527" cy="47548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E1A2E"/>
                </a:solidFill>
                <a:latin typeface="맑은 고딕"/>
              </a:rPr>
              <a:t>실제 판매 사이즈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7032" y="3145536"/>
            <a:ext cx="3054096" cy="42062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5F6E7E"/>
                </a:solidFill>
                <a:latin typeface="맑은 고딕"/>
              </a:rPr>
              <a:t>S/M/L 등 라벨과 행 순서 보존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57032" y="3666744"/>
            <a:ext cx="3054096" cy="42062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5F6E7E"/>
                </a:solidFill>
                <a:latin typeface="맑은 고딕"/>
              </a:rPr>
              <a:t>총장·어깨너비·가슴단면 입력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57032" y="4187952"/>
            <a:ext cx="3054096" cy="42062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5F6E7E"/>
                </a:solidFill>
                <a:latin typeface="맑은 고딕"/>
              </a:rPr>
              <a:t>모호한 어깨 비교는 보류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41264"/>
            <a:ext cx="10881360" cy="493776"/>
          </a:xfrm>
          <a:prstGeom prst="roundRect">
            <a:avLst/>
          </a:prstGeom>
          <a:solidFill>
            <a:srgbClr val="EDF8F7"/>
          </a:solidFill>
          <a:ln>
            <a:solidFill>
              <a:srgbClr val="ED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96112" y="5660136"/>
            <a:ext cx="10424160" cy="25603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0E1A2E"/>
                </a:solidFill>
                <a:latin typeface="맑은 고딕"/>
              </a:rPr>
              <a:t>완료: 직접 입력·검증·비교  |  남음: OCR 연결·적정 여유 기준·확정 추천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C95"/>
          </a:solidFill>
          <a:ln>
            <a:solidFill>
              <a:srgbClr val="009C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7315200" cy="2743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009C95"/>
                </a:solidFill>
                <a:latin typeface="맑은 고딕"/>
              </a:rPr>
              <a:t>12 / 합성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0972800" cy="59436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2800" b="1">
                <a:solidFill>
                  <a:srgbClr val="0E1A2E"/>
                </a:solidFill>
                <a:latin typeface="맑은 고딕"/>
              </a:rPr>
              <a:t>FASHN 기본 합성 한 번 → S/M/L 후처리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316736"/>
            <a:ext cx="11064240" cy="41148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5F6E7E"/>
                </a:solidFill>
                <a:latin typeface="맑은 고딕"/>
              </a:rPr>
              <a:t>입력 치수가 FASHN 내부 조건이 되는 방식은 아니며, 생성 결과의 옷 영역을 조정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46520"/>
            <a:ext cx="11045952" cy="10972"/>
          </a:xfrm>
          <a:prstGeom prst="rect">
            <a:avLst/>
          </a:prstGeom>
          <a:solidFill>
            <a:srgbClr val="DDE5EA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8229600" cy="21945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5F6E7E"/>
                </a:solidFill>
                <a:latin typeface="맑은 고딕"/>
              </a:rPr>
              <a:t>FitCheck · 사이즈 합성 진행 현황 · 2026.10.26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492240"/>
            <a:ext cx="530352" cy="21945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5F6E7E"/>
                </a:solidFill>
                <a:latin typeface="맑은 고딕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011680"/>
            <a:ext cx="2084831" cy="2331720"/>
          </a:xfrm>
          <a:prstGeom prst="roundRect">
            <a:avLst/>
          </a:prstGeom>
          <a:solidFill>
            <a:srgbClr val="F6F8FA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2212848"/>
            <a:ext cx="347472" cy="43891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2200" b="1">
                <a:solidFill>
                  <a:srgbClr val="009C95"/>
                </a:solidFill>
                <a:latin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761488"/>
            <a:ext cx="1783080" cy="65836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0E1A2E"/>
                </a:solidFill>
                <a:latin typeface="맑은 고딕"/>
              </a:rPr>
              <a:t>기준 사진·5점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502152"/>
            <a:ext cx="1783080" cy="62179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5F6E7E"/>
                </a:solidFill>
                <a:latin typeface="맑은 고딕"/>
              </a:rPr>
              <a:t>목·몸통 좌우·밑단 좌우 확인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52344" y="2935224"/>
            <a:ext cx="164592" cy="36576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009C95"/>
                </a:solidFill>
                <a:latin typeface="맑은 고딕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07791" y="2011680"/>
            <a:ext cx="2084831" cy="2331720"/>
          </a:xfrm>
          <a:prstGeom prst="roundRect">
            <a:avLst/>
          </a:prstGeom>
          <a:solidFill>
            <a:srgbClr val="F6F8FA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72384" y="2212848"/>
            <a:ext cx="347472" cy="43891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2200" b="1">
                <a:solidFill>
                  <a:srgbClr val="009C95"/>
                </a:solidFill>
                <a:latin typeface="맑은 고딕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72384" y="2761488"/>
            <a:ext cx="1783080" cy="65836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0E1A2E"/>
                </a:solidFill>
                <a:latin typeface="맑은 고딕"/>
              </a:rPr>
              <a:t>FASHN 기본 합성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2384" y="3502152"/>
            <a:ext cx="1783080" cy="62179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5F6E7E"/>
                </a:solidFill>
                <a:latin typeface="맑은 고딕"/>
              </a:rPr>
              <a:t>인물 + 상품 사진으로 한 번 생성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01768" y="2935224"/>
            <a:ext cx="164592" cy="36576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009C95"/>
                </a:solidFill>
                <a:latin typeface="맑은 고딕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57216" y="2011680"/>
            <a:ext cx="2084831" cy="2331720"/>
          </a:xfrm>
          <a:prstGeom prst="roundRect">
            <a:avLst/>
          </a:prstGeom>
          <a:solidFill>
            <a:srgbClr val="F6F8FA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21807" y="2212848"/>
            <a:ext cx="347472" cy="43891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2200" b="1">
                <a:solidFill>
                  <a:srgbClr val="009C95"/>
                </a:solidFill>
                <a:latin typeface="맑은 고딕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21807" y="2761488"/>
            <a:ext cx="1783080" cy="65836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0E1A2E"/>
                </a:solidFill>
                <a:latin typeface="맑은 고딕"/>
              </a:rPr>
              <a:t>옷 마스크 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21807" y="3502152"/>
            <a:ext cx="1783080" cy="62179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5F6E7E"/>
                </a:solidFill>
                <a:latin typeface="맑은 고딕"/>
              </a:rPr>
              <a:t>GrabCut 초안에 브러시·지우개 적용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51192" y="2935224"/>
            <a:ext cx="164592" cy="36576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009C95"/>
                </a:solidFill>
                <a:latin typeface="맑은 고딕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06640" y="2011680"/>
            <a:ext cx="2084831" cy="2331720"/>
          </a:xfrm>
          <a:prstGeom prst="roundRect">
            <a:avLst/>
          </a:prstGeom>
          <a:solidFill>
            <a:srgbClr val="F6F8FA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71231" y="2212848"/>
            <a:ext cx="347472" cy="43891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2200" b="1">
                <a:solidFill>
                  <a:srgbClr val="009C95"/>
                </a:solidFill>
                <a:latin typeface="맑은 고딕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71231" y="2761488"/>
            <a:ext cx="1783080" cy="65836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0E1A2E"/>
                </a:solidFill>
                <a:latin typeface="맑은 고딕"/>
              </a:rPr>
              <a:t>목표선·변형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71231" y="3502152"/>
            <a:ext cx="1783080" cy="62179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5F6E7E"/>
                </a:solidFill>
                <a:latin typeface="맑은 고딕"/>
              </a:rPr>
              <a:t>총장 비율·가슴단면 비율 적용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0616" y="2935224"/>
            <a:ext cx="164592" cy="36576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009C95"/>
                </a:solidFill>
                <a:latin typeface="맑은 고딕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56064" y="2011680"/>
            <a:ext cx="2084831" cy="2331720"/>
          </a:xfrm>
          <a:prstGeom prst="roundRect">
            <a:avLst/>
          </a:prstGeom>
          <a:solidFill>
            <a:srgbClr val="F6F8FA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820656" y="2212848"/>
            <a:ext cx="347472" cy="43891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2200" b="1">
                <a:solidFill>
                  <a:srgbClr val="009C95"/>
                </a:solidFill>
                <a:latin typeface="맑은 고딕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0656" y="2761488"/>
            <a:ext cx="1783080" cy="65836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0E1A2E"/>
                </a:solidFill>
                <a:latin typeface="맑은 고딕"/>
              </a:rPr>
              <a:t>결과 비교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20656" y="3502152"/>
            <a:ext cx="1783080" cy="62179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5F6E7E"/>
                </a:solidFill>
                <a:latin typeface="맑은 고딕"/>
              </a:rPr>
              <a:t>S/M/L 갤러리·선택 결과 저장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718304"/>
            <a:ext cx="10881360" cy="1152144"/>
          </a:xfrm>
          <a:prstGeom prst="roundRect">
            <a:avLst/>
          </a:prstGeom>
          <a:solidFill>
            <a:srgbClr val="EDF8F7"/>
          </a:solidFill>
          <a:ln>
            <a:solidFill>
              <a:srgbClr val="ED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4400" y="4892040"/>
            <a:ext cx="2834640" cy="36576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009C95"/>
                </a:solidFill>
                <a:latin typeface="맑은 고딕"/>
              </a:rPr>
              <a:t>현재 확인된 변화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4910328"/>
            <a:ext cx="7543800" cy="36576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1500" b="0">
                <a:solidFill>
                  <a:srgbClr val="0E1A2E"/>
                </a:solidFill>
                <a:latin typeface="맑은 고딕"/>
              </a:rPr>
              <a:t>선택한 판매 사이즈에 따라 총장 목표와 출력 이미지가 달라짐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349240"/>
            <a:ext cx="10241280" cy="32004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5F6E7E"/>
                </a:solidFill>
                <a:latin typeface="맑은 고딕"/>
              </a:rPr>
              <a:t>몸통 폭의 실제 효과는 미확인 · 어깨 변형은 보류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C95"/>
          </a:solidFill>
          <a:ln>
            <a:solidFill>
              <a:srgbClr val="009C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7315200" cy="2743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009C95"/>
                </a:solidFill>
                <a:latin typeface="맑은 고딕"/>
              </a:rPr>
              <a:t>13 / 실패와 개선 실험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0972800" cy="59436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2800" b="1">
                <a:solidFill>
                  <a:srgbClr val="0E1A2E"/>
                </a:solidFill>
                <a:latin typeface="맑은 고딕"/>
              </a:rPr>
              <a:t>짧아진 옷 아래 드러난 영역 복원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316736"/>
            <a:ext cx="11064240" cy="41148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5F6E7E"/>
                </a:solidFill>
                <a:latin typeface="맑은 고딕"/>
              </a:rPr>
              <a:t>실제 합성에서 허리·바지·배경 연결이 부자연스러운 문제를 확인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46520"/>
            <a:ext cx="11045952" cy="10972"/>
          </a:xfrm>
          <a:prstGeom prst="rect">
            <a:avLst/>
          </a:prstGeom>
          <a:solidFill>
            <a:srgbClr val="DDE5EA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8229600" cy="21945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5F6E7E"/>
                </a:solidFill>
                <a:latin typeface="맑은 고딕"/>
              </a:rPr>
              <a:t>FitCheck · 사이즈 합성 진행 현황 · 2026.10.26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492240"/>
            <a:ext cx="530352" cy="21945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5F6E7E"/>
                </a:solidFill>
                <a:latin typeface="맑은 고딕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65376"/>
            <a:ext cx="5230368" cy="3182112"/>
          </a:xfrm>
          <a:prstGeom prst="roundRect">
            <a:avLst/>
          </a:prstGeom>
          <a:solidFill>
            <a:srgbClr val="F6F8FA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1865376"/>
            <a:ext cx="68580" cy="3182112"/>
          </a:xfrm>
          <a:prstGeom prst="rect">
            <a:avLst/>
          </a:prstGeom>
          <a:solidFill>
            <a:srgbClr val="C76B1F"/>
          </a:solidFill>
          <a:ln>
            <a:solidFill>
              <a:srgbClr val="C76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048256"/>
            <a:ext cx="4818888" cy="25603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C76B1F"/>
                </a:solidFill>
                <a:latin typeface="맑은 고딕"/>
              </a:rPr>
              <a:t>이전 실험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414016"/>
            <a:ext cx="4818888" cy="47548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E1A2E"/>
                </a:solidFill>
                <a:latin typeface="맑은 고딕"/>
              </a:rPr>
              <a:t>Telea 복원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090672"/>
            <a:ext cx="4791456" cy="42062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5F6E7E"/>
                </a:solidFill>
                <a:latin typeface="맑은 고딕"/>
              </a:rPr>
              <a:t>기존 옷을 지운 뒤 주변 색으로 채움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11879"/>
            <a:ext cx="4791456" cy="42062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5F6E7E"/>
                </a:solidFill>
                <a:latin typeface="맑은 고딕"/>
              </a:rPr>
              <a:t>밑단 아래로 피부·배경색이 삼각형처럼 번짐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133087"/>
            <a:ext cx="4791456" cy="42062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5F6E7E"/>
                </a:solidFill>
                <a:latin typeface="맑은 고딕"/>
              </a:rPr>
              <a:t>실제 사진에서 경계가 어색함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1865376"/>
            <a:ext cx="5458968" cy="3182112"/>
          </a:xfrm>
          <a:prstGeom prst="roundRect">
            <a:avLst/>
          </a:prstGeom>
          <a:solidFill>
            <a:srgbClr val="F6F8FA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80760" y="1865376"/>
            <a:ext cx="68580" cy="3182112"/>
          </a:xfrm>
          <a:prstGeom prst="rect">
            <a:avLst/>
          </a:prstGeom>
          <a:solidFill>
            <a:srgbClr val="009C95"/>
          </a:solidFill>
          <a:ln>
            <a:solidFill>
              <a:srgbClr val="009C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91072" y="2048256"/>
            <a:ext cx="5047488" cy="25603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009C95"/>
                </a:solidFill>
                <a:latin typeface="맑은 고딕"/>
              </a:rPr>
              <a:t>현재 기본값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2414016"/>
            <a:ext cx="5047488" cy="47548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E1A2E"/>
                </a:solidFill>
                <a:latin typeface="맑은 고딕"/>
              </a:rPr>
              <a:t>원본 재사용 + 방향성 패치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3090672"/>
            <a:ext cx="5020056" cy="42062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5F6E7E"/>
                </a:solidFill>
                <a:latin typeface="맑은 고딕"/>
              </a:rPr>
              <a:t>보이는 원본만 조건부로 재사용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1072" y="3611879"/>
            <a:ext cx="5020056" cy="42062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5F6E7E"/>
                </a:solidFill>
                <a:latin typeface="맑은 고딕"/>
              </a:rPr>
              <a:t>밑단 아래·옆의 패치를 해당 방향으로 연장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4133087"/>
            <a:ext cx="5020056" cy="42062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5F6E7E"/>
                </a:solidFill>
                <a:latin typeface="맑은 고딕"/>
              </a:rPr>
              <a:t>초록=재사용 / 주황=추정 부분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340096"/>
            <a:ext cx="10881360" cy="621792"/>
          </a:xfrm>
          <a:prstGeom prst="roundRect">
            <a:avLst/>
          </a:prstGeom>
          <a:solidFill>
            <a:srgbClr val="EDF8F7"/>
          </a:solidFill>
          <a:ln>
            <a:solidFill>
              <a:srgbClr val="ED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6112" y="5486400"/>
            <a:ext cx="10332720" cy="32918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0E1A2E"/>
                </a:solidFill>
                <a:latin typeface="맑은 고딕"/>
              </a:rPr>
              <a:t>인공 줄무늬 사례: 복원 MAE 56.29 → 0.00  |  실제 사진 품질을 뜻하지 않음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40B29-2726-39F6-85F8-438685B87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6839941-B9F0-DCDB-AFE5-63DF5C863592}"/>
              </a:ext>
            </a:extLst>
          </p:cNvPr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C95"/>
          </a:solidFill>
          <a:ln>
            <a:solidFill>
              <a:srgbClr val="009C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C7A228-4D53-9442-9122-155BD2C514B1}"/>
              </a:ext>
            </a:extLst>
          </p:cNvPr>
          <p:cNvSpPr txBox="1"/>
          <p:nvPr/>
        </p:nvSpPr>
        <p:spPr>
          <a:xfrm>
            <a:off x="566928" y="292608"/>
            <a:ext cx="7315200" cy="2743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009C95"/>
                </a:solidFill>
                <a:latin typeface="맑은 고딕"/>
              </a:rPr>
              <a:t>14 / 검증 상태와 다음 실험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C18F00-D7C6-757A-AA3F-37677944EC84}"/>
              </a:ext>
            </a:extLst>
          </p:cNvPr>
          <p:cNvSpPr/>
          <p:nvPr/>
        </p:nvSpPr>
        <p:spPr>
          <a:xfrm>
            <a:off x="566928" y="6446520"/>
            <a:ext cx="11045952" cy="10972"/>
          </a:xfrm>
          <a:prstGeom prst="rect">
            <a:avLst/>
          </a:prstGeom>
          <a:solidFill>
            <a:srgbClr val="DDE5EA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BE1481-166B-47BC-C441-EE6AC1158FDE}"/>
              </a:ext>
            </a:extLst>
          </p:cNvPr>
          <p:cNvSpPr txBox="1"/>
          <p:nvPr/>
        </p:nvSpPr>
        <p:spPr>
          <a:xfrm>
            <a:off x="566928" y="6492240"/>
            <a:ext cx="8229600" cy="21945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5F6E7E"/>
                </a:solidFill>
                <a:latin typeface="맑은 고딕"/>
              </a:rPr>
              <a:t>FitCheck · 사이즈 합성 진행 현황 · 2026.10.26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B7CAB8-456F-03F2-D062-87786E1DDEF5}"/>
              </a:ext>
            </a:extLst>
          </p:cNvPr>
          <p:cNvSpPr txBox="1"/>
          <p:nvPr/>
        </p:nvSpPr>
        <p:spPr>
          <a:xfrm>
            <a:off x="11082528" y="6492240"/>
            <a:ext cx="530352" cy="21945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5F6E7E"/>
                </a:solidFill>
                <a:latin typeface="맑은 고딕"/>
              </a:rPr>
              <a:t>15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E22291C-25EE-2356-7410-19D41704365A}"/>
              </a:ext>
            </a:extLst>
          </p:cNvPr>
          <p:cNvSpPr txBox="1"/>
          <p:nvPr/>
        </p:nvSpPr>
        <p:spPr>
          <a:xfrm>
            <a:off x="1821180" y="958817"/>
            <a:ext cx="3081527" cy="307777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2000" b="1" dirty="0" err="1">
                <a:solidFill>
                  <a:srgbClr val="0E1A2E"/>
                </a:solidFill>
                <a:latin typeface="맑은 고딕"/>
              </a:rPr>
              <a:t>기준</a:t>
            </a:r>
            <a:r>
              <a:rPr sz="2000" b="1" dirty="0">
                <a:solidFill>
                  <a:srgbClr val="0E1A2E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0E1A2E"/>
                </a:solidFill>
                <a:latin typeface="맑은 고딕"/>
              </a:rPr>
              <a:t>옷이</a:t>
            </a:r>
            <a:r>
              <a:rPr sz="2000" b="1" dirty="0">
                <a:solidFill>
                  <a:srgbClr val="0E1A2E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0E1A2E"/>
                </a:solidFill>
                <a:latin typeface="맑은 고딕"/>
              </a:rPr>
              <a:t>있을</a:t>
            </a:r>
            <a:r>
              <a:rPr sz="2000" b="1" dirty="0">
                <a:solidFill>
                  <a:srgbClr val="0E1A2E"/>
                </a:solidFill>
                <a:latin typeface="맑은 고딕"/>
              </a:rPr>
              <a:t> 때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F039C62-1379-2368-2FAE-13E490AD0A41}"/>
              </a:ext>
            </a:extLst>
          </p:cNvPr>
          <p:cNvSpPr txBox="1"/>
          <p:nvPr/>
        </p:nvSpPr>
        <p:spPr>
          <a:xfrm>
            <a:off x="2310457" y="4849483"/>
            <a:ext cx="1296670" cy="307777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lang="ko-KR" altLang="en-US" sz="2000" b="1" dirty="0">
                <a:solidFill>
                  <a:srgbClr val="0E1A2E"/>
                </a:solidFill>
                <a:latin typeface="맑은 고딕"/>
              </a:rPr>
              <a:t>총장 </a:t>
            </a:r>
            <a:r>
              <a:rPr lang="en-US" altLang="ko-KR" sz="2000" b="1" dirty="0">
                <a:solidFill>
                  <a:srgbClr val="0E1A2E"/>
                </a:solidFill>
                <a:latin typeface="맑은 고딕"/>
              </a:rPr>
              <a:t>63</a:t>
            </a:r>
            <a:endParaRPr sz="2000" b="1" dirty="0">
              <a:solidFill>
                <a:srgbClr val="0E1A2E"/>
              </a:solidFill>
              <a:latin typeface="맑은 고딕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10FD23B-7FE0-2B93-E254-5CD0CB0A5F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1180" y="1523657"/>
            <a:ext cx="2495744" cy="332582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DF08D81-1DAA-6352-7E8E-48053E8816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658483"/>
            <a:ext cx="2431482" cy="2917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6585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1E6D0-830E-398A-1A99-E91711D50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그림 42">
            <a:extLst>
              <a:ext uri="{FF2B5EF4-FFF2-40B4-BE49-F238E27FC236}">
                <a16:creationId xmlns:a16="http://schemas.microsoft.com/office/drawing/2014/main" id="{DCFD76D2-11DB-5E39-00D4-52FDE2649C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1807" y="1420484"/>
            <a:ext cx="2571750" cy="3429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D8692C8-82A6-9ECB-25EB-E40FB0ABCF61}"/>
              </a:ext>
            </a:extLst>
          </p:cNvPr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C95"/>
          </a:solidFill>
          <a:ln>
            <a:solidFill>
              <a:srgbClr val="009C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832E07-C89C-008E-2028-CBCAB3FCF177}"/>
              </a:ext>
            </a:extLst>
          </p:cNvPr>
          <p:cNvSpPr txBox="1"/>
          <p:nvPr/>
        </p:nvSpPr>
        <p:spPr>
          <a:xfrm>
            <a:off x="566928" y="292608"/>
            <a:ext cx="7315200" cy="2743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009C95"/>
                </a:solidFill>
                <a:latin typeface="맑은 고딕"/>
              </a:rPr>
              <a:t>14 / 검증 상태와 다음 실험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B79210-06F1-7CE3-1AC8-5EA32CB12AA0}"/>
              </a:ext>
            </a:extLst>
          </p:cNvPr>
          <p:cNvSpPr/>
          <p:nvPr/>
        </p:nvSpPr>
        <p:spPr>
          <a:xfrm>
            <a:off x="566928" y="6446520"/>
            <a:ext cx="11045952" cy="10972"/>
          </a:xfrm>
          <a:prstGeom prst="rect">
            <a:avLst/>
          </a:prstGeom>
          <a:solidFill>
            <a:srgbClr val="DDE5EA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F380E2-116D-1191-C789-D540FDECD5DD}"/>
              </a:ext>
            </a:extLst>
          </p:cNvPr>
          <p:cNvSpPr txBox="1"/>
          <p:nvPr/>
        </p:nvSpPr>
        <p:spPr>
          <a:xfrm>
            <a:off x="566928" y="6492240"/>
            <a:ext cx="8229600" cy="21945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5F6E7E"/>
                </a:solidFill>
                <a:latin typeface="맑은 고딕"/>
              </a:rPr>
              <a:t>FitCheck · 사이즈 합성 진행 현황 · 2026.10.26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31DBAC-15A2-B1AA-51E1-A044BDFE1CFB}"/>
              </a:ext>
            </a:extLst>
          </p:cNvPr>
          <p:cNvSpPr txBox="1"/>
          <p:nvPr/>
        </p:nvSpPr>
        <p:spPr>
          <a:xfrm>
            <a:off x="11082528" y="6492240"/>
            <a:ext cx="530352" cy="21945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5F6E7E"/>
                </a:solidFill>
                <a:latin typeface="맑은 고딕"/>
              </a:rPr>
              <a:t>15</a:t>
            </a:r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F3CD5A95-FE59-9B58-006A-71C72183F5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4528" y="1420483"/>
            <a:ext cx="2571750" cy="3429000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80F369F4-6276-D8B5-C509-04EAF43551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0088" y="1420483"/>
            <a:ext cx="2571750" cy="3429000"/>
          </a:xfrm>
          <a:prstGeom prst="rect">
            <a:avLst/>
          </a:prstGeom>
        </p:spPr>
      </p:pic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22133757-BA11-5FEB-D27B-F5D86B590151}"/>
              </a:ext>
            </a:extLst>
          </p:cNvPr>
          <p:cNvCxnSpPr/>
          <p:nvPr/>
        </p:nvCxnSpPr>
        <p:spPr>
          <a:xfrm>
            <a:off x="2526030" y="3108960"/>
            <a:ext cx="7006590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A0E157E8-55B7-EDE7-E0A0-8AFCFBDA8440}"/>
              </a:ext>
            </a:extLst>
          </p:cNvPr>
          <p:cNvSpPr txBox="1"/>
          <p:nvPr/>
        </p:nvSpPr>
        <p:spPr>
          <a:xfrm>
            <a:off x="1821180" y="958817"/>
            <a:ext cx="5525770" cy="307777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2000" b="1" dirty="0" err="1">
                <a:solidFill>
                  <a:srgbClr val="0E1A2E"/>
                </a:solidFill>
                <a:latin typeface="맑은 고딕"/>
              </a:rPr>
              <a:t>기준</a:t>
            </a:r>
            <a:r>
              <a:rPr sz="2000" b="1" dirty="0">
                <a:solidFill>
                  <a:srgbClr val="0E1A2E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0E1A2E"/>
                </a:solidFill>
                <a:latin typeface="맑은 고딕"/>
              </a:rPr>
              <a:t>옷이</a:t>
            </a:r>
            <a:r>
              <a:rPr sz="2000" b="1" dirty="0">
                <a:solidFill>
                  <a:srgbClr val="0E1A2E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0E1A2E"/>
                </a:solidFill>
                <a:latin typeface="맑은 고딕"/>
              </a:rPr>
              <a:t>있을</a:t>
            </a:r>
            <a:r>
              <a:rPr sz="2000" b="1" dirty="0">
                <a:solidFill>
                  <a:srgbClr val="0E1A2E"/>
                </a:solidFill>
                <a:latin typeface="맑은 고딕"/>
              </a:rPr>
              <a:t> 때</a:t>
            </a:r>
            <a:r>
              <a:rPr lang="en-US" sz="2000" b="1" dirty="0">
                <a:solidFill>
                  <a:srgbClr val="0E1A2E"/>
                </a:solidFill>
                <a:latin typeface="맑은 고딕"/>
              </a:rPr>
              <a:t>(T4 </a:t>
            </a:r>
            <a:r>
              <a:rPr lang="ko-KR" altLang="en-US" sz="2000" b="1" dirty="0">
                <a:solidFill>
                  <a:srgbClr val="0E1A2E"/>
                </a:solidFill>
                <a:latin typeface="맑은 고딕"/>
              </a:rPr>
              <a:t>기준 약 </a:t>
            </a:r>
            <a:r>
              <a:rPr lang="en-US" altLang="ko-KR" sz="2000" b="1" dirty="0">
                <a:solidFill>
                  <a:srgbClr val="0E1A2E"/>
                </a:solidFill>
                <a:latin typeface="맑은 고딕"/>
              </a:rPr>
              <a:t>130</a:t>
            </a:r>
            <a:r>
              <a:rPr lang="ko-KR" altLang="en-US" sz="2000" b="1" dirty="0">
                <a:solidFill>
                  <a:srgbClr val="0E1A2E"/>
                </a:solidFill>
                <a:latin typeface="맑은 고딕"/>
              </a:rPr>
              <a:t>초 소모</a:t>
            </a:r>
            <a:r>
              <a:rPr lang="en-US" altLang="ko-KR" sz="2000" b="1" dirty="0">
                <a:solidFill>
                  <a:srgbClr val="0E1A2E"/>
                </a:solidFill>
                <a:latin typeface="맑은 고딕"/>
              </a:rPr>
              <a:t>)</a:t>
            </a:r>
            <a:endParaRPr sz="2000" b="1" dirty="0">
              <a:solidFill>
                <a:srgbClr val="0E1A2E"/>
              </a:solidFill>
              <a:latin typeface="맑은 고딕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6CE9D70-32CA-31B1-C3F0-BF365C451F98}"/>
              </a:ext>
            </a:extLst>
          </p:cNvPr>
          <p:cNvSpPr txBox="1"/>
          <p:nvPr/>
        </p:nvSpPr>
        <p:spPr>
          <a:xfrm>
            <a:off x="2310457" y="4849483"/>
            <a:ext cx="1296670" cy="307777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lang="en-US" sz="2000" b="1" dirty="0">
                <a:solidFill>
                  <a:srgbClr val="0E1A2E"/>
                </a:solidFill>
                <a:latin typeface="맑은 고딕"/>
              </a:rPr>
              <a:t>S(</a:t>
            </a:r>
            <a:r>
              <a:rPr lang="ko-KR" altLang="en-US" sz="2000" b="1" dirty="0">
                <a:solidFill>
                  <a:srgbClr val="0E1A2E"/>
                </a:solidFill>
                <a:latin typeface="맑은 고딕"/>
              </a:rPr>
              <a:t>총장 </a:t>
            </a:r>
            <a:r>
              <a:rPr lang="en-US" altLang="ko-KR" sz="2000" b="1" dirty="0">
                <a:solidFill>
                  <a:srgbClr val="0E1A2E"/>
                </a:solidFill>
                <a:latin typeface="맑은 고딕"/>
              </a:rPr>
              <a:t>60)</a:t>
            </a:r>
            <a:endParaRPr sz="2000" b="1" dirty="0">
              <a:solidFill>
                <a:srgbClr val="0E1A2E"/>
              </a:solidFill>
              <a:latin typeface="맑은 고딕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CC3C272-40FB-E355-8FB8-41B3A443B747}"/>
              </a:ext>
            </a:extLst>
          </p:cNvPr>
          <p:cNvSpPr txBox="1"/>
          <p:nvPr/>
        </p:nvSpPr>
        <p:spPr>
          <a:xfrm>
            <a:off x="4931664" y="4849483"/>
            <a:ext cx="1296670" cy="307777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lang="en-US" sz="2000" b="1" dirty="0">
                <a:solidFill>
                  <a:srgbClr val="0E1A2E"/>
                </a:solidFill>
                <a:latin typeface="맑은 고딕"/>
              </a:rPr>
              <a:t>S(</a:t>
            </a:r>
            <a:r>
              <a:rPr lang="ko-KR" altLang="en-US" sz="2000" b="1" dirty="0">
                <a:solidFill>
                  <a:srgbClr val="0E1A2E"/>
                </a:solidFill>
                <a:latin typeface="맑은 고딕"/>
              </a:rPr>
              <a:t>총장 </a:t>
            </a:r>
            <a:r>
              <a:rPr lang="en-US" altLang="ko-KR" sz="2000" b="1" dirty="0">
                <a:solidFill>
                  <a:srgbClr val="0E1A2E"/>
                </a:solidFill>
                <a:latin typeface="맑은 고딕"/>
              </a:rPr>
              <a:t>65)</a:t>
            </a:r>
            <a:endParaRPr sz="2000" b="1" dirty="0">
              <a:solidFill>
                <a:srgbClr val="0E1A2E"/>
              </a:solidFill>
              <a:latin typeface="맑은 고딕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5B2BD26-1F68-DCFD-DDB8-0BB0AFD1F56A}"/>
              </a:ext>
            </a:extLst>
          </p:cNvPr>
          <p:cNvSpPr txBox="1"/>
          <p:nvPr/>
        </p:nvSpPr>
        <p:spPr>
          <a:xfrm>
            <a:off x="7496683" y="4849483"/>
            <a:ext cx="1296670" cy="307777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lang="en-US" sz="2000" b="1" dirty="0">
                <a:solidFill>
                  <a:srgbClr val="0E1A2E"/>
                </a:solidFill>
                <a:latin typeface="맑은 고딕"/>
              </a:rPr>
              <a:t>S(</a:t>
            </a:r>
            <a:r>
              <a:rPr lang="ko-KR" altLang="en-US" sz="2000" b="1" dirty="0">
                <a:solidFill>
                  <a:srgbClr val="0E1A2E"/>
                </a:solidFill>
                <a:latin typeface="맑은 고딕"/>
              </a:rPr>
              <a:t>총장 </a:t>
            </a:r>
            <a:r>
              <a:rPr lang="en-US" altLang="ko-KR" sz="2000" b="1" dirty="0">
                <a:solidFill>
                  <a:srgbClr val="0E1A2E"/>
                </a:solidFill>
                <a:latin typeface="맑은 고딕"/>
              </a:rPr>
              <a:t>70)</a:t>
            </a:r>
            <a:endParaRPr sz="2000" b="1" dirty="0">
              <a:solidFill>
                <a:srgbClr val="0E1A2E"/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5277028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C95"/>
          </a:solidFill>
          <a:ln>
            <a:solidFill>
              <a:srgbClr val="009C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7315200" cy="2743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009C95"/>
                </a:solidFill>
                <a:latin typeface="맑은 고딕"/>
              </a:rPr>
              <a:t>14 / 검증 상태와 다음 실험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0972800" cy="59436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2800" b="1">
                <a:solidFill>
                  <a:srgbClr val="0E1A2E"/>
                </a:solidFill>
                <a:latin typeface="맑은 고딕"/>
              </a:rPr>
              <a:t>동작은 연결됐고, 자연스러운 착용 결과는 검증 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316736"/>
            <a:ext cx="11064240" cy="41148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5F6E7E"/>
                </a:solidFill>
                <a:latin typeface="맑은 고딕"/>
              </a:rPr>
              <a:t>소프트웨어 동작 검증과 실착 핏·복원 품질 검증을 구분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46520"/>
            <a:ext cx="11045952" cy="10972"/>
          </a:xfrm>
          <a:prstGeom prst="rect">
            <a:avLst/>
          </a:prstGeom>
          <a:solidFill>
            <a:srgbClr val="DDE5EA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8229600" cy="21945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5F6E7E"/>
                </a:solidFill>
                <a:latin typeface="맑은 고딕"/>
              </a:rPr>
              <a:t>FitCheck · 사이즈 합성 진행 현황 · 2026.10.26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492240"/>
            <a:ext cx="530352" cy="21945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5F6E7E"/>
                </a:solidFill>
                <a:latin typeface="맑은 고딕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83664"/>
            <a:ext cx="3493008" cy="3493008"/>
          </a:xfrm>
          <a:prstGeom prst="roundRect">
            <a:avLst/>
          </a:prstGeom>
          <a:solidFill>
            <a:srgbClr val="F6F8FA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1883664"/>
            <a:ext cx="68580" cy="3493008"/>
          </a:xfrm>
          <a:prstGeom prst="rect">
            <a:avLst/>
          </a:prstGeom>
          <a:solidFill>
            <a:srgbClr val="009C95"/>
          </a:solidFill>
          <a:ln>
            <a:solidFill>
              <a:srgbClr val="009C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066544"/>
            <a:ext cx="3081527" cy="25603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009C95"/>
                </a:solidFill>
                <a:latin typeface="맑은 고딕"/>
              </a:rPr>
              <a:t>확인된 동작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432304"/>
            <a:ext cx="3081527" cy="47548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E1A2E"/>
                </a:solidFill>
                <a:latin typeface="맑은 고딕"/>
              </a:rPr>
              <a:t>구현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108960"/>
            <a:ext cx="3054096" cy="42062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5F6E7E"/>
                </a:solidFill>
                <a:latin typeface="맑은 고딕"/>
              </a:rPr>
              <a:t>Ridge 예측·치수표 직접 비교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30168"/>
            <a:ext cx="3054096" cy="42062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5F6E7E"/>
                </a:solidFill>
                <a:latin typeface="맑은 고딕"/>
              </a:rPr>
              <a:t>5점 목표선·FASHN 후처리 연결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151376"/>
            <a:ext cx="3054096" cy="42062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5F6E7E"/>
                </a:solidFill>
                <a:latin typeface="맑은 고딕"/>
              </a:rPr>
              <a:t>마스크 편집·사이즈 갤러리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672584"/>
            <a:ext cx="3054096" cy="42062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5F6E7E"/>
                </a:solidFill>
                <a:latin typeface="맑은 고딕"/>
              </a:rPr>
              <a:t>기본 합성 재사용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52544" y="1883664"/>
            <a:ext cx="3493008" cy="3493008"/>
          </a:xfrm>
          <a:prstGeom prst="roundRect">
            <a:avLst/>
          </a:prstGeom>
          <a:solidFill>
            <a:srgbClr val="F6F8FA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52544" y="1883664"/>
            <a:ext cx="68580" cy="3493008"/>
          </a:xfrm>
          <a:prstGeom prst="rect">
            <a:avLst/>
          </a:prstGeom>
          <a:solidFill>
            <a:srgbClr val="C76B1F"/>
          </a:solidFill>
          <a:ln>
            <a:solidFill>
              <a:srgbClr val="C76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62856" y="2066544"/>
            <a:ext cx="3081527" cy="25603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C76B1F"/>
                </a:solidFill>
                <a:latin typeface="맑은 고딕"/>
              </a:rPr>
              <a:t>현재 한계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2856" y="2432304"/>
            <a:ext cx="3081527" cy="47548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E1A2E"/>
                </a:solidFill>
                <a:latin typeface="맑은 고딕"/>
              </a:rPr>
              <a:t>실제 사진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2856" y="3108960"/>
            <a:ext cx="3054096" cy="42062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5F6E7E"/>
                </a:solidFill>
                <a:latin typeface="맑은 고딕"/>
              </a:rPr>
              <a:t>총장 변화 관찰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62856" y="3630168"/>
            <a:ext cx="3054096" cy="42062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5F6E7E"/>
                </a:solidFill>
                <a:latin typeface="맑은 고딕"/>
              </a:rPr>
              <a:t>몸통 폭 효과는 추가 확인 필요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62856" y="4151376"/>
            <a:ext cx="3054096" cy="42062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5F6E7E"/>
                </a:solidFill>
                <a:latin typeface="맑은 고딕"/>
              </a:rPr>
              <a:t>어깨 변형은 보류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2856" y="4672584"/>
            <a:ext cx="3054096" cy="42062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5F6E7E"/>
                </a:solidFill>
                <a:latin typeface="맑은 고딕"/>
              </a:rPr>
              <a:t>가려진 허리·바지 복원은 어색함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1883664"/>
            <a:ext cx="3493008" cy="3493008"/>
          </a:xfrm>
          <a:prstGeom prst="roundRect">
            <a:avLst/>
          </a:prstGeom>
          <a:solidFill>
            <a:srgbClr val="F6F8FA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46720" y="1883664"/>
            <a:ext cx="68580" cy="3493008"/>
          </a:xfrm>
          <a:prstGeom prst="rect">
            <a:avLst/>
          </a:prstGeom>
          <a:solidFill>
            <a:srgbClr val="009C95"/>
          </a:solidFill>
          <a:ln>
            <a:solidFill>
              <a:srgbClr val="009C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57032" y="2066544"/>
            <a:ext cx="3081527" cy="25603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009C95"/>
                </a:solidFill>
                <a:latin typeface="맑은 고딕"/>
              </a:rPr>
              <a:t>다음 실험 제안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57032" y="2432304"/>
            <a:ext cx="3081527" cy="47548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E1A2E"/>
                </a:solidFill>
                <a:latin typeface="맑은 고딕"/>
              </a:rPr>
              <a:t>부분 복원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57032" y="3108960"/>
            <a:ext cx="3054096" cy="42062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5F6E7E"/>
                </a:solidFill>
                <a:latin typeface="맑은 고딕"/>
              </a:rPr>
              <a:t>드러난 부위만 생성형 복원 시험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57032" y="3630168"/>
            <a:ext cx="3054096" cy="42062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5F6E7E"/>
                </a:solidFill>
                <a:latin typeface="맑은 고딕"/>
              </a:rPr>
              <a:t>S/M/L에서 같은 복원 결과 재사용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57032" y="4151376"/>
            <a:ext cx="3054096" cy="42062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5F6E7E"/>
                </a:solidFill>
                <a:latin typeface="맑은 고딕"/>
              </a:rPr>
              <a:t>Colab T4 품질·시간 직접 측정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7032" y="4672584"/>
            <a:ext cx="3054096" cy="42062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5F6E7E"/>
                </a:solidFill>
                <a:latin typeface="맑은 고딕"/>
              </a:rPr>
              <a:t>실착 사진으로 경계·핏 비교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" y="5669280"/>
            <a:ext cx="10789920" cy="30175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5F6E7E"/>
                </a:solidFill>
                <a:latin typeface="맑은 고딕"/>
              </a:rPr>
              <a:t>생성형 인페인팅은 검토 중인 아이디어이며 현재 코드에는 연결하지 않았다.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</TotalTime>
  <Words>1877</Words>
  <Application>Microsoft Office PowerPoint</Application>
  <PresentationFormat>와이드스크린</PresentationFormat>
  <Paragraphs>314</Paragraphs>
  <Slides>17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1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은재 이</cp:lastModifiedBy>
  <cp:revision>1</cp:revision>
  <dcterms:created xsi:type="dcterms:W3CDTF">2013-01-27T09:14:16Z</dcterms:created>
  <dcterms:modified xsi:type="dcterms:W3CDTF">2026-10-26T11:17:51Z</dcterms:modified>
  <cp:category/>
</cp:coreProperties>
</file>