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76656" y="804672"/>
            <a:ext cx="100584" cy="5129784"/>
          </a:xfrm>
          <a:prstGeom prst="rect">
            <a:avLst/>
          </a:prstGeom>
          <a:solidFill>
            <a:srgbClr val="009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91440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>
                <a:solidFill>
                  <a:srgbClr val="009C95"/>
                </a:solidFill>
                <a:latin typeface="맑은 고딕"/>
              </a:rPr>
              <a:t>FITCHECK  /  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627632"/>
            <a:ext cx="10241280" cy="1572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3700" b="1">
                <a:solidFill>
                  <a:srgbClr val="FFFFFF"/>
                </a:solidFill>
                <a:latin typeface="맑은 고딕"/>
              </a:rPr>
              <a:t>키·체중·성별 기반</a:t>
            </a:r>
          </a:p>
          <a:p>
            <a:pPr algn="l">
              <a:spcAft>
                <a:spcPts val="100"/>
              </a:spcAft>
            </a:pPr>
            <a:r>
              <a:rPr sz="3700" b="1">
                <a:solidFill>
                  <a:srgbClr val="FFFFFF"/>
                </a:solidFill>
                <a:latin typeface="맑은 고딕"/>
              </a:rPr>
              <a:t>신체 치수 예측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767328"/>
            <a:ext cx="9692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2000" b="0">
                <a:solidFill>
                  <a:srgbClr val="FFFFFF"/>
                </a:solidFill>
                <a:latin typeface="맑은 고딕"/>
              </a:rPr>
              <a:t>성별 평균 · Ridge · Gradient Boosting 비교 결과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" y="4782312"/>
            <a:ext cx="4160520" cy="493776"/>
          </a:xfrm>
          <a:prstGeom prst="roundRect">
            <a:avLst>
              <a:gd name="adj" fmla="val 10000"/>
            </a:avLst>
          </a:prstGeom>
          <a:solidFill>
            <a:srgbClr val="009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4873752"/>
            <a:ext cx="3785615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</a:rPr>
              <a:t>최종 선택  RIDGE 회귀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603504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A8BECA"/>
                </a:solidFill>
                <a:latin typeface="맑은 고딕"/>
              </a:rPr>
              <a:t>현재 진행 현황  |  2026.10.25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009C95"/>
                </a:solidFill>
                <a:latin typeface="맑은 고딕"/>
              </a:rPr>
              <a:t>01 / 프로젝트 방향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2800" b="1">
                <a:solidFill>
                  <a:srgbClr val="0E1A2E"/>
                </a:solidFill>
                <a:latin typeface="맑은 고딕"/>
              </a:rPr>
              <a:t>기준 옷이 있으면 옷끼리, 없으면 신체 예측으로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316736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5F6E7E"/>
                </a:solidFill>
                <a:latin typeface="맑은 고딕"/>
              </a:rPr>
              <a:t>상의 사이즈 비교와 향후 합성 조정을 위한 두 가지 입력 경로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46520"/>
            <a:ext cx="11045952" cy="10972"/>
          </a:xfrm>
          <a:prstGeom prst="rect">
            <a:avLst/>
          </a:prstGeom>
          <a:solidFill>
            <a:srgbClr val="D8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5F6E7E"/>
                </a:solidFill>
                <a:latin typeface="맑은 고딕"/>
              </a:rPr>
              <a:t>FitCheck · 신체 치수 모델 진행 현황 · 2026.10.25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492240"/>
            <a:ext cx="53035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100"/>
              </a:spcAft>
            </a:pPr>
            <a:r>
              <a:rPr sz="1000" b="0">
                <a:solidFill>
                  <a:srgbClr val="5F6E7E"/>
                </a:solidFill>
                <a:latin typeface="맑은 고딕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920240"/>
            <a:ext cx="5166360" cy="2423160"/>
          </a:xfrm>
          <a:prstGeom prst="roundRect">
            <a:avLst>
              <a:gd name="adj" fmla="val 10000"/>
            </a:avLst>
          </a:prstGeom>
          <a:solidFill>
            <a:srgbClr val="DE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920240"/>
            <a:ext cx="68580" cy="2423160"/>
          </a:xfrm>
          <a:prstGeom prst="rect">
            <a:avLst/>
          </a:prstGeom>
          <a:solidFill>
            <a:srgbClr val="009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075688"/>
            <a:ext cx="478231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700" b="1">
                <a:solidFill>
                  <a:srgbClr val="0E1A2E"/>
                </a:solidFill>
                <a:latin typeface="맑은 고딕"/>
              </a:rPr>
              <a:t>경로 A  |  잘 맞는 기준 상의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542032"/>
            <a:ext cx="4782312" cy="1655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기준 옷의 총장 · 어깨너비 · 가슴단면을 직접 입력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→ 새 옷 판매 사이즈와 항목별 비교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18504" y="1920240"/>
            <a:ext cx="5166360" cy="2423160"/>
          </a:xfrm>
          <a:prstGeom prst="roundRect">
            <a:avLst>
              <a:gd name="adj" fmla="val 10000"/>
            </a:avLst>
          </a:prstGeom>
          <a:solidFill>
            <a:srgbClr val="FFE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18504" y="1920240"/>
            <a:ext cx="68580" cy="2423160"/>
          </a:xfrm>
          <a:prstGeom prst="rect">
            <a:avLst/>
          </a:prstGeom>
          <a:solidFill>
            <a:srgbClr val="ED6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2075688"/>
            <a:ext cx="478231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700" b="1">
                <a:solidFill>
                  <a:srgbClr val="0E1A2E"/>
                </a:solidFill>
                <a:latin typeface="맑은 고딕"/>
              </a:rPr>
              <a:t>경로 B  |  기준 옷이 없는 경우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2542032"/>
            <a:ext cx="4782312" cy="1655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성별 · 키 · 체중 입력 → 신체 치수 범위 예측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→ 새 옷 실측과 여유분 비교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754880"/>
            <a:ext cx="10799064" cy="859536"/>
          </a:xfrm>
          <a:prstGeom prst="roundRect">
            <a:avLst>
              <a:gd name="adj" fmla="val 10000"/>
            </a:avLst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4910328"/>
            <a:ext cx="19202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>
                <a:solidFill>
                  <a:srgbClr val="0E1A2E"/>
                </a:solidFill>
                <a:latin typeface="맑은 고딕"/>
              </a:rPr>
              <a:t>이번 발표 범위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25496" y="4910328"/>
            <a:ext cx="83210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>
                <a:solidFill>
                  <a:srgbClr val="009C95"/>
                </a:solidFill>
                <a:latin typeface="맑은 고딕"/>
              </a:rPr>
              <a:t>기준 옷 직접 입력 + 엑셀 모델 학습·비교·웹 예측까지 완료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009C95"/>
                </a:solidFill>
                <a:latin typeface="맑은 고딕"/>
              </a:rPr>
              <a:t>02 / 데이터와 예측값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2800" b="1">
                <a:solidFill>
                  <a:srgbClr val="0E1A2E"/>
                </a:solidFill>
                <a:latin typeface="맑은 고딕"/>
              </a:rPr>
              <a:t>실측 데이터 5,092명 · 예측 대상은 3개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316736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5F6E7E"/>
                </a:solidFill>
                <a:latin typeface="맑은 고딕"/>
              </a:rPr>
              <a:t>size_data/전처리데이터.xlsx  ·  남 2,319명 / 여 2,773명  ·  제외 0명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46520"/>
            <a:ext cx="11045952" cy="10972"/>
          </a:xfrm>
          <a:prstGeom prst="rect">
            <a:avLst/>
          </a:prstGeom>
          <a:solidFill>
            <a:srgbClr val="D8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5F6E7E"/>
                </a:solidFill>
                <a:latin typeface="맑은 고딕"/>
              </a:rPr>
              <a:t>FitCheck · 신체 치수 모델 진행 현황 · 2026.10.25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492240"/>
            <a:ext cx="53035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100"/>
              </a:spcAft>
            </a:pPr>
            <a:r>
              <a:rPr sz="1000" b="0">
                <a:solidFill>
                  <a:srgbClr val="5F6E7E"/>
                </a:solidFill>
                <a:latin typeface="맑은 고딕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947672"/>
            <a:ext cx="3419856" cy="2112264"/>
          </a:xfrm>
          <a:prstGeom prst="roundRect">
            <a:avLst>
              <a:gd name="adj" fmla="val 10000"/>
            </a:avLst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947672"/>
            <a:ext cx="68580" cy="2112264"/>
          </a:xfrm>
          <a:prstGeom prst="rect">
            <a:avLst/>
          </a:prstGeom>
          <a:solidFill>
            <a:srgbClr val="009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103120"/>
            <a:ext cx="30358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700" b="1">
                <a:solidFill>
                  <a:srgbClr val="0E1A2E"/>
                </a:solidFill>
                <a:latin typeface="맑은 고딕"/>
              </a:rPr>
              <a:t>입력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569464"/>
            <a:ext cx="3035808" cy="1344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사용자가 선택한 성별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키(cm) · 체중(kg)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947672"/>
            <a:ext cx="3419856" cy="2112264"/>
          </a:xfrm>
          <a:prstGeom prst="roundRect">
            <a:avLst>
              <a:gd name="adj" fmla="val 10000"/>
            </a:avLst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947672"/>
            <a:ext cx="68580" cy="2112264"/>
          </a:xfrm>
          <a:prstGeom prst="rect">
            <a:avLst/>
          </a:prstGeom>
          <a:solidFill>
            <a:srgbClr val="009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2103120"/>
            <a:ext cx="30358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700" b="1">
                <a:solidFill>
                  <a:srgbClr val="0E1A2E"/>
                </a:solidFill>
                <a:latin typeface="맑은 고딕"/>
              </a:rPr>
              <a:t>예측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569464"/>
            <a:ext cx="3035808" cy="1344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어깨사이너비(cm)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신체 기준 총장(cm)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가슴둘레(cm)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947672"/>
            <a:ext cx="3419856" cy="2112264"/>
          </a:xfrm>
          <a:prstGeom prst="roundRect">
            <a:avLst>
              <a:gd name="adj" fmla="val 10000"/>
            </a:avLst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1947672"/>
            <a:ext cx="68580" cy="2112264"/>
          </a:xfrm>
          <a:prstGeom prst="rect">
            <a:avLst/>
          </a:prstGeom>
          <a:solidFill>
            <a:srgbClr val="009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3608" y="2103120"/>
            <a:ext cx="30358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700" b="1">
                <a:solidFill>
                  <a:srgbClr val="0E1A2E"/>
                </a:solidFill>
                <a:latin typeface="맑은 고딕"/>
              </a:rPr>
              <a:t>옷 치수와 비교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2569464"/>
            <a:ext cx="3035808" cy="1344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옷 어깨너비 · 옷 총장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옷 가슴단면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389120"/>
            <a:ext cx="10826496" cy="1216152"/>
          </a:xfrm>
          <a:prstGeom prst="roundRect">
            <a:avLst>
              <a:gd name="adj" fmla="val 10000"/>
            </a:avLst>
          </a:prstGeom>
          <a:solidFill>
            <a:srgbClr val="FFE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617720"/>
            <a:ext cx="13716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>
                <a:solidFill>
                  <a:srgbClr val="ED6F5C"/>
                </a:solidFill>
                <a:latin typeface="맑은 고딕"/>
              </a:rPr>
              <a:t>측정 정의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95728" y="4572000"/>
            <a:ext cx="8622792" cy="8138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0">
                <a:solidFill>
                  <a:srgbClr val="1F2F42"/>
                </a:solidFill>
                <a:latin typeface="맑은 고딕"/>
              </a:rPr>
              <a:t>신체 기준 총장 = 목뒤높이 − 위앞엉덩뼈가시높이</a:t>
            </a:r>
          </a:p>
          <a:p>
            <a:pPr algn="l">
              <a:spcAft>
                <a:spcPts val="100"/>
              </a:spcAft>
            </a:pPr>
            <a:r>
              <a:rPr sz="1500" b="0">
                <a:solidFill>
                  <a:srgbClr val="1F2F42"/>
                </a:solidFill>
                <a:latin typeface="맑은 고딕"/>
              </a:rPr>
              <a:t>몸 가슴둘레 / 2는 옷 가슴단면과 비교할 때만 사용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009C95"/>
                </a:solidFill>
                <a:latin typeface="맑은 고딕"/>
              </a:rPr>
              <a:t>03 / 평가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2800" b="1">
                <a:solidFill>
                  <a:srgbClr val="0E1A2E"/>
                </a:solidFill>
                <a:latin typeface="맑은 고딕"/>
              </a:rPr>
              <a:t>모델 선택과 최종 평가는 사람 단위로 분리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316736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5F6E7E"/>
                </a:solidFill>
                <a:latin typeface="맑은 고딕"/>
              </a:rPr>
              <a:t>학습 자료의 교차검증 MAE만 보고 모델을 선택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46520"/>
            <a:ext cx="11045952" cy="10972"/>
          </a:xfrm>
          <a:prstGeom prst="rect">
            <a:avLst/>
          </a:prstGeom>
          <a:solidFill>
            <a:srgbClr val="D8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5F6E7E"/>
                </a:solidFill>
                <a:latin typeface="맑은 고딕"/>
              </a:rPr>
              <a:t>FitCheck · 신체 치수 모델 진행 현황 · 2026.10.25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492240"/>
            <a:ext cx="53035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100"/>
              </a:spcAft>
            </a:pPr>
            <a:r>
              <a:rPr sz="1000" b="0">
                <a:solidFill>
                  <a:srgbClr val="5F6E7E"/>
                </a:solidFill>
                <a:latin typeface="맑은 고딕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" y="2075688"/>
            <a:ext cx="3127248" cy="2048256"/>
          </a:xfrm>
          <a:prstGeom prst="roundRect">
            <a:avLst>
              <a:gd name="adj" fmla="val 10000"/>
            </a:avLst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286000"/>
            <a:ext cx="27432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2700" b="1">
                <a:solidFill>
                  <a:srgbClr val="009C95"/>
                </a:solidFill>
                <a:latin typeface="맑은 고딕"/>
              </a:rPr>
              <a:t>3,054명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852928"/>
            <a:ext cx="27432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800" b="1">
                <a:solidFill>
                  <a:srgbClr val="0E1A2E"/>
                </a:solidFill>
                <a:latin typeface="맑은 고딕"/>
              </a:rPr>
              <a:t>학습 60%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374136"/>
            <a:ext cx="27432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F2F42"/>
                </a:solidFill>
                <a:latin typeface="맑은 고딕"/>
              </a:rPr>
              <a:t>5-fold CV로 평균·Ridge·Boosting 비교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17136" y="2075688"/>
            <a:ext cx="3127248" cy="2048256"/>
          </a:xfrm>
          <a:prstGeom prst="roundRect">
            <a:avLst>
              <a:gd name="adj" fmla="val 10000"/>
            </a:avLst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0016" y="2286000"/>
            <a:ext cx="27432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2700" b="1">
                <a:solidFill>
                  <a:srgbClr val="009C95"/>
                </a:solidFill>
                <a:latin typeface="맑은 고딕"/>
              </a:rPr>
              <a:t>1,019명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0016" y="2852928"/>
            <a:ext cx="27432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800" b="1">
                <a:solidFill>
                  <a:srgbClr val="0E1A2E"/>
                </a:solidFill>
                <a:latin typeface="맑은 고딕"/>
              </a:rPr>
              <a:t>범위 보정 20%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0016" y="3374136"/>
            <a:ext cx="27432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F2F42"/>
                </a:solidFill>
                <a:latin typeface="맑은 고딕"/>
              </a:rPr>
              <a:t>절대 오차로 90% 목표 예측 구간 계산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39327" y="2075688"/>
            <a:ext cx="3127248" cy="2048256"/>
          </a:xfrm>
          <a:prstGeom prst="roundRect">
            <a:avLst>
              <a:gd name="adj" fmla="val 10000"/>
            </a:avLst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22207" y="2286000"/>
            <a:ext cx="27432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2700" b="1">
                <a:solidFill>
                  <a:srgbClr val="009C95"/>
                </a:solidFill>
                <a:latin typeface="맑은 고딕"/>
              </a:rPr>
              <a:t>1,019명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22207" y="2852928"/>
            <a:ext cx="27432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800" b="1">
                <a:solidFill>
                  <a:srgbClr val="0E1A2E"/>
                </a:solidFill>
                <a:latin typeface="맑은 고딕"/>
              </a:rPr>
              <a:t>최종 평가 20%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22207" y="3374136"/>
            <a:ext cx="27432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F2F42"/>
                </a:solidFill>
                <a:latin typeface="맑은 고딕"/>
              </a:rPr>
              <a:t>MAE와 구간 실제 포함률 확인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50208" y="2798064"/>
            <a:ext cx="48463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2500" b="1">
                <a:solidFill>
                  <a:srgbClr val="009C95"/>
                </a:solidFill>
                <a:latin typeface="맑은 고딕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2798064"/>
            <a:ext cx="48463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2500" b="1">
                <a:solidFill>
                  <a:srgbClr val="009C95"/>
                </a:solidFill>
                <a:latin typeface="맑은 고딕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4944" y="4590288"/>
            <a:ext cx="10771632" cy="1014984"/>
          </a:xfrm>
          <a:prstGeom prst="roundRect">
            <a:avLst>
              <a:gd name="adj" fmla="val 10000"/>
            </a:avLst>
          </a:prstGeom>
          <a:solidFill>
            <a:srgbClr val="DE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4846320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>
                <a:solidFill>
                  <a:srgbClr val="009C95"/>
                </a:solidFill>
                <a:latin typeface="맑은 고딕"/>
              </a:rPr>
              <a:t>누출 방지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4846320"/>
            <a:ext cx="86868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0">
                <a:solidFill>
                  <a:srgbClr val="1F2F42"/>
                </a:solidFill>
                <a:latin typeface="맑은 고딕"/>
              </a:rPr>
              <a:t>ID·정답 치수를 입력 특성에서 제외 · 사람 중복 없는 분할 · 최종 평가로 모델 재선택 없음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009C95"/>
                </a:solidFill>
                <a:latin typeface="맑은 고딕"/>
              </a:rPr>
              <a:t>04 / 모델 선택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2800" b="1">
                <a:solidFill>
                  <a:srgbClr val="0E1A2E"/>
                </a:solidFill>
                <a:latin typeface="맑은 고딕"/>
              </a:rPr>
              <a:t>6개 성별·항목 조합 모두 Ridge가 CV 최저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316736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5F6E7E"/>
                </a:solidFill>
                <a:latin typeface="맑은 고딕"/>
              </a:rPr>
              <a:t>단위: cm · 낮을수록 좋음 · 아래 수치는 학습 자료 5-fold 교차검증 MAE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46520"/>
            <a:ext cx="11045952" cy="10972"/>
          </a:xfrm>
          <a:prstGeom prst="rect">
            <a:avLst/>
          </a:prstGeom>
          <a:solidFill>
            <a:srgbClr val="D8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5F6E7E"/>
                </a:solidFill>
                <a:latin typeface="맑은 고딕"/>
              </a:rPr>
              <a:t>FitCheck · 신체 치수 모델 진행 현황 · 2026.10.25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492240"/>
            <a:ext cx="53035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100"/>
              </a:spcAft>
            </a:pPr>
            <a:r>
              <a:rPr sz="1000" b="0">
                <a:solidFill>
                  <a:srgbClr val="5F6E7E"/>
                </a:solidFill>
                <a:latin typeface="맑은 고딕"/>
              </a:rPr>
              <a:t>05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65376"/>
            <a:ext cx="9500616" cy="484632"/>
          </a:xfrm>
          <a:prstGeom prst="rect">
            <a:avLst/>
          </a:prstGeom>
          <a:solidFill>
            <a:srgbClr val="DE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01952"/>
            <a:ext cx="83210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5F6E7E"/>
                </a:solidFill>
                <a:latin typeface="맑은 고딕"/>
              </a:rPr>
              <a:t>성별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19656" y="1901952"/>
            <a:ext cx="2359151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5F6E7E"/>
                </a:solidFill>
                <a:latin typeface="맑은 고딕"/>
              </a:rPr>
              <a:t>예측 항목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190195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5F6E7E"/>
                </a:solidFill>
                <a:latin typeface="맑은 고딕"/>
              </a:rPr>
              <a:t>성별 평균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6792" y="190195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5F6E7E"/>
                </a:solidFill>
                <a:latin typeface="맑은 고딕"/>
              </a:rPr>
              <a:t>Ridge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0183" y="190195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5F6E7E"/>
                </a:solidFill>
                <a:latin typeface="맑은 고딕"/>
              </a:rPr>
              <a:t>Boosting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359152"/>
            <a:ext cx="9500616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395728"/>
            <a:ext cx="83210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19656" y="2395728"/>
            <a:ext cx="2359151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어깨사이너비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2395728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1.483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2395728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009C95"/>
                </a:solidFill>
                <a:latin typeface="맑은 고딕"/>
              </a:rPr>
              <a:t>1.180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0183" y="2395728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1.191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2843784"/>
            <a:ext cx="9500616" cy="484632"/>
          </a:xfrm>
          <a:prstGeom prst="rect">
            <a:avLst/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2880360"/>
            <a:ext cx="83210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19656" y="2880360"/>
            <a:ext cx="2359151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신체 기준 총장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288036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2.095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36792" y="288036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009C95"/>
                </a:solidFill>
                <a:latin typeface="맑은 고딕"/>
              </a:rPr>
              <a:t>1.732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0183" y="288036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1.754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3328416"/>
            <a:ext cx="9500616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3364992"/>
            <a:ext cx="83210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19656" y="3364992"/>
            <a:ext cx="2359151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가슴둘레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400" y="336499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5.069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6792" y="336499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009C95"/>
                </a:solidFill>
                <a:latin typeface="맑은 고딕"/>
              </a:rPr>
              <a:t>2.484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0183" y="336499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2.486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3813048"/>
            <a:ext cx="9500616" cy="484632"/>
          </a:xfrm>
          <a:prstGeom prst="rect">
            <a:avLst/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3849624"/>
            <a:ext cx="83210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19656" y="3849624"/>
            <a:ext cx="2359151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어깨사이너비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3849624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1.257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36792" y="3849624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009C95"/>
                </a:solidFill>
                <a:latin typeface="맑은 고딕"/>
              </a:rPr>
              <a:t>1.037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30183" y="3849624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1.053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4297680"/>
            <a:ext cx="9500616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4334256"/>
            <a:ext cx="83210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여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19656" y="4334256"/>
            <a:ext cx="2359151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신체 기준 총장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43400" y="4334256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2.150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36792" y="4334256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009C95"/>
                </a:solidFill>
                <a:latin typeface="맑은 고딕"/>
              </a:rPr>
              <a:t>1.788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30183" y="4334256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1.796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4782312"/>
            <a:ext cx="9500616" cy="484632"/>
          </a:xfrm>
          <a:prstGeom prst="rect">
            <a:avLst/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4818888"/>
            <a:ext cx="83210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여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19656" y="4818888"/>
            <a:ext cx="2359151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가슴둘레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43400" y="4818888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4.960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36792" y="4818888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009C95"/>
                </a:solidFill>
                <a:latin typeface="맑은 고딕"/>
              </a:rPr>
              <a:t>2.192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30183" y="4818888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2.203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31520" y="5541264"/>
            <a:ext cx="10396728" cy="466344"/>
          </a:xfrm>
          <a:prstGeom prst="roundRect">
            <a:avLst>
              <a:gd name="adj" fmla="val 10000"/>
            </a:avLst>
          </a:prstGeom>
          <a:solidFill>
            <a:srgbClr val="FFE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2688" y="5641848"/>
            <a:ext cx="100126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F2F42"/>
                </a:solidFill>
                <a:latin typeface="맑은 고딕"/>
              </a:rPr>
              <a:t>Ridge와 Boosting 차이는 일부 항목에서 작다. 선택 기준은 CV이며 최종 평가값으로 바꾸지 않았다.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009C95"/>
                </a:solidFill>
                <a:latin typeface="맑은 고딕"/>
              </a:rPr>
              <a:t>05 / 최종 평가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2800" b="1">
                <a:solidFill>
                  <a:srgbClr val="0E1A2E"/>
                </a:solidFill>
                <a:latin typeface="맑은 고딕"/>
              </a:rPr>
              <a:t>선택된 Ridge의 성별·항목별 오차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316736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5F6E7E"/>
                </a:solidFill>
                <a:latin typeface="맑은 고딕"/>
              </a:rPr>
              <a:t>최종 평가 1,019명 · 예측 구간은 별도 보정 자료로 만든 90% 목표 범위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46520"/>
            <a:ext cx="11045952" cy="10972"/>
          </a:xfrm>
          <a:prstGeom prst="rect">
            <a:avLst/>
          </a:prstGeom>
          <a:solidFill>
            <a:srgbClr val="D8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5F6E7E"/>
                </a:solidFill>
                <a:latin typeface="맑은 고딕"/>
              </a:rPr>
              <a:t>FitCheck · 신체 치수 모델 진행 현황 · 2026.10.25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492240"/>
            <a:ext cx="53035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100"/>
              </a:spcAft>
            </a:pPr>
            <a:r>
              <a:rPr sz="1000" b="0">
                <a:solidFill>
                  <a:srgbClr val="5F6E7E"/>
                </a:solidFill>
                <a:latin typeface="맑은 고딕"/>
              </a:rPr>
              <a:t>06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47088"/>
            <a:ext cx="10195560" cy="484632"/>
          </a:xfrm>
          <a:prstGeom prst="rect">
            <a:avLst/>
          </a:prstGeom>
          <a:solidFill>
            <a:srgbClr val="DE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883664"/>
            <a:ext cx="79552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5F6E7E"/>
                </a:solidFill>
                <a:latin typeface="맑은 고딕"/>
              </a:rPr>
              <a:t>성별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1883664"/>
            <a:ext cx="2852927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5F6E7E"/>
                </a:solidFill>
                <a:latin typeface="맑은 고딕"/>
              </a:rPr>
              <a:t>예측 항목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1883664"/>
            <a:ext cx="18013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5F6E7E"/>
                </a:solidFill>
                <a:latin typeface="맑은 고딕"/>
              </a:rPr>
              <a:t>평가 MAE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1883664"/>
            <a:ext cx="18013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5F6E7E"/>
                </a:solidFill>
                <a:latin typeface="맑은 고딕"/>
              </a:rPr>
              <a:t>구간 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1883664"/>
            <a:ext cx="21214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5F6E7E"/>
                </a:solidFill>
                <a:latin typeface="맑은 고딕"/>
              </a:rPr>
              <a:t>실제 포함률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331720"/>
            <a:ext cx="1019556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368296"/>
            <a:ext cx="79552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2368296"/>
            <a:ext cx="2852927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어깨사이너비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2368296"/>
            <a:ext cx="18013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009C95"/>
                </a:solidFill>
                <a:latin typeface="맑은 고딕"/>
              </a:rPr>
              <a:t>1.21 cm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368296"/>
            <a:ext cx="18013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2.47 cm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2368296"/>
            <a:ext cx="21214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89.4%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2816352"/>
            <a:ext cx="1019556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2852928"/>
            <a:ext cx="79552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2852928"/>
            <a:ext cx="2852927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신체 기준 총장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2852928"/>
            <a:ext cx="18013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009C95"/>
                </a:solidFill>
                <a:latin typeface="맑은 고딕"/>
              </a:rPr>
              <a:t>1.71 cm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2852928"/>
            <a:ext cx="18013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3.46 cm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2852928"/>
            <a:ext cx="21214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89.0%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3300984"/>
            <a:ext cx="1019556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3337560"/>
            <a:ext cx="79552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83080" y="3337560"/>
            <a:ext cx="2852927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가슴둘레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3337560"/>
            <a:ext cx="18013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009C95"/>
                </a:solidFill>
                <a:latin typeface="맑은 고딕"/>
              </a:rPr>
              <a:t>2.37 cm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3337560"/>
            <a:ext cx="18013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5.48 cm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32520" y="3337560"/>
            <a:ext cx="21214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93.3%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3785616"/>
            <a:ext cx="10195560" cy="484632"/>
          </a:xfrm>
          <a:prstGeom prst="rect">
            <a:avLst/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3822192"/>
            <a:ext cx="79552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83080" y="3822192"/>
            <a:ext cx="2852927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어깨사이너비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3822192"/>
            <a:ext cx="18013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009C95"/>
                </a:solidFill>
                <a:latin typeface="맑은 고딕"/>
              </a:rPr>
              <a:t>1.09 cm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3822192"/>
            <a:ext cx="18013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2.19 cm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32520" y="3822192"/>
            <a:ext cx="21214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89.0%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4270248"/>
            <a:ext cx="10195560" cy="484632"/>
          </a:xfrm>
          <a:prstGeom prst="rect">
            <a:avLst/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4306824"/>
            <a:ext cx="79552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여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83080" y="4306824"/>
            <a:ext cx="2852927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신체 기준 총장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00600" y="4306824"/>
            <a:ext cx="18013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009C95"/>
                </a:solidFill>
                <a:latin typeface="맑은 고딕"/>
              </a:rPr>
              <a:t>1.81 cm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6560" y="4306824"/>
            <a:ext cx="18013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3.72 cm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32520" y="4306824"/>
            <a:ext cx="21214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90.6%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4754880"/>
            <a:ext cx="10195560" cy="484632"/>
          </a:xfrm>
          <a:prstGeom prst="rect">
            <a:avLst/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4791456"/>
            <a:ext cx="79552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여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783080" y="4791456"/>
            <a:ext cx="2852927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가슴둘레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00600" y="4791456"/>
            <a:ext cx="18013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009C95"/>
                </a:solidFill>
                <a:latin typeface="맑은 고딕"/>
              </a:rPr>
              <a:t>2.15 cm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66560" y="4791456"/>
            <a:ext cx="18013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4.51 cm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32520" y="4791456"/>
            <a:ext cx="21214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90.3%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31520" y="5522976"/>
            <a:ext cx="10195560" cy="484632"/>
          </a:xfrm>
          <a:prstGeom prst="roundRect">
            <a:avLst>
              <a:gd name="adj" fmla="val 10000"/>
            </a:avLst>
          </a:prstGeom>
          <a:solidFill>
            <a:srgbClr val="FFE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50976" y="5632704"/>
            <a:ext cx="98572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F2F42"/>
                </a:solidFill>
                <a:latin typeface="맑은 고딕"/>
              </a:rPr>
              <a:t>예측 구간은 성별·부위별 주변적 범위이며 한 사람의 세 치수를 동시에 포함한다는 보장은 없다.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009C95"/>
                </a:solidFill>
                <a:latin typeface="맑은 고딕"/>
              </a:rPr>
              <a:t>06 / 동작 확인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2800" b="1">
                <a:solidFill>
                  <a:srgbClr val="0E1A2E"/>
                </a:solidFill>
                <a:latin typeface="맑은 고딕"/>
              </a:rPr>
              <a:t>현재 구현된 웹 디버깅 화면은 2개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316736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5F6E7E"/>
                </a:solidFill>
                <a:latin typeface="맑은 고딕"/>
              </a:rPr>
              <a:t>직접 입력 경로와 모델 예측 경로를 각각 검증할 수 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46520"/>
            <a:ext cx="11045952" cy="10972"/>
          </a:xfrm>
          <a:prstGeom prst="rect">
            <a:avLst/>
          </a:prstGeom>
          <a:solidFill>
            <a:srgbClr val="D8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5F6E7E"/>
                </a:solidFill>
                <a:latin typeface="맑은 고딕"/>
              </a:rPr>
              <a:t>FitCheck · 신체 치수 모델 진행 현황 · 2026.10.25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492240"/>
            <a:ext cx="53035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100"/>
              </a:spcAft>
            </a:pPr>
            <a:r>
              <a:rPr sz="1000" b="0">
                <a:solidFill>
                  <a:srgbClr val="5F6E7E"/>
                </a:solidFill>
                <a:latin typeface="맑은 고딕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947672"/>
            <a:ext cx="5193792" cy="2907792"/>
          </a:xfrm>
          <a:prstGeom prst="roundRect">
            <a:avLst>
              <a:gd name="adj" fmla="val 10000"/>
            </a:avLst>
          </a:prstGeom>
          <a:solidFill>
            <a:srgbClr val="DE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947672"/>
            <a:ext cx="68580" cy="2907792"/>
          </a:xfrm>
          <a:prstGeom prst="rect">
            <a:avLst/>
          </a:prstGeom>
          <a:solidFill>
            <a:srgbClr val="009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03120"/>
            <a:ext cx="480974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800" b="1">
                <a:solidFill>
                  <a:srgbClr val="0E1A2E"/>
                </a:solidFill>
                <a:latin typeface="맑은 고딕"/>
              </a:rPr>
              <a:t>1단계  |  기준 옷 치수 입력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69464"/>
            <a:ext cx="4809744" cy="2139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총장 · 어깨너비 · 가슴단면 입력 및 검증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값 수정 시 확인 상태 초기화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실행: scripts/debug_reference_size.py --ui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주소: localhost:7863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1947672"/>
            <a:ext cx="5193792" cy="2907792"/>
          </a:xfrm>
          <a:prstGeom prst="roundRect">
            <a:avLst>
              <a:gd name="adj" fmla="val 10000"/>
            </a:avLst>
          </a:prstGeom>
          <a:solidFill>
            <a:srgbClr val="FFE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6208" y="1947672"/>
            <a:ext cx="68580" cy="2907792"/>
          </a:xfrm>
          <a:prstGeom prst="rect">
            <a:avLst/>
          </a:prstGeom>
          <a:solidFill>
            <a:srgbClr val="ED6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7376" y="2103120"/>
            <a:ext cx="480974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800" b="1">
                <a:solidFill>
                  <a:srgbClr val="0E1A2E"/>
                </a:solidFill>
                <a:latin typeface="맑은 고딕"/>
              </a:rPr>
              <a:t>2단계  |  신체 모델 예측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2569464"/>
            <a:ext cx="4809744" cy="2139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성별 · 키 · 체중 → 세 신체 치수와 범위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모델별 결과 / 선택적 실측 오차 대조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실행: scripts/debug_body_model.py --ui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주소: localhost:7864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5294376"/>
            <a:ext cx="1042416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>
                <a:solidFill>
                  <a:srgbClr val="0E1A2E"/>
                </a:solidFill>
                <a:latin typeface="맑은 고딕"/>
              </a:rPr>
              <a:t>검증: 관련 테스트 9개 통과 · 저장 모델 불러오기 및 웹 API 예측 확인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009C95"/>
                </a:solidFill>
                <a:latin typeface="맑은 고딕"/>
              </a:rPr>
              <a:t>07 / 이전 실험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2800" b="1">
                <a:solidFill>
                  <a:srgbClr val="0E1A2E"/>
                </a:solidFill>
                <a:latin typeface="맑은 고딕"/>
              </a:rPr>
              <a:t>사진 측정과 가상 피팅의 실험 결과를 보존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316736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5F6E7E"/>
                </a:solidFill>
                <a:latin typeface="맑은 고딕"/>
              </a:rPr>
              <a:t>새 신체 예측 경로를 택하게 된 배경과 기존 합성 앱의 상태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46520"/>
            <a:ext cx="11045952" cy="10972"/>
          </a:xfrm>
          <a:prstGeom prst="rect">
            <a:avLst/>
          </a:prstGeom>
          <a:solidFill>
            <a:srgbClr val="D8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5F6E7E"/>
                </a:solidFill>
                <a:latin typeface="맑은 고딕"/>
              </a:rPr>
              <a:t>FitCheck · 신체 치수 모델 진행 현황 · 2026.10.25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492240"/>
            <a:ext cx="53035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100"/>
              </a:spcAft>
            </a:pPr>
            <a:r>
              <a:rPr sz="1000" b="0">
                <a:solidFill>
                  <a:srgbClr val="5F6E7E"/>
                </a:solidFill>
                <a:latin typeface="맑은 고딕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" y="1938528"/>
            <a:ext cx="5193792" cy="2404872"/>
          </a:xfrm>
          <a:prstGeom prst="roundRect">
            <a:avLst>
              <a:gd name="adj" fmla="val 10000"/>
            </a:avLst>
          </a:prstGeom>
          <a:solidFill>
            <a:srgbClr val="FFE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2376" y="1938528"/>
            <a:ext cx="68580" cy="2404872"/>
          </a:xfrm>
          <a:prstGeom prst="rect">
            <a:avLst/>
          </a:prstGeom>
          <a:solidFill>
            <a:srgbClr val="ED6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" y="2093976"/>
            <a:ext cx="480974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700" b="1">
                <a:solidFill>
                  <a:srgbClr val="0E1A2E"/>
                </a:solidFill>
                <a:latin typeface="맑은 고딕"/>
              </a:rPr>
              <a:t>사진 기반 치수 측정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2560320"/>
            <a:ext cx="4809744" cy="1636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MediaPipe 어깨 관절점과 입력 키를 이용한 환산 실험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사진 구도·원근·자세에 따라 결과가 흔들림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고정 보정계수 1.28의 일반화는 미검증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1938528"/>
            <a:ext cx="5193792" cy="2404872"/>
          </a:xfrm>
          <a:prstGeom prst="roundRect">
            <a:avLst>
              <a:gd name="adj" fmla="val 10000"/>
            </a:avLst>
          </a:prstGeom>
          <a:solidFill>
            <a:srgbClr val="DE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27064" y="1938528"/>
            <a:ext cx="68580" cy="2404872"/>
          </a:xfrm>
          <a:prstGeom prst="rect">
            <a:avLst/>
          </a:prstGeom>
          <a:solidFill>
            <a:srgbClr val="009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1" y="2093976"/>
            <a:ext cx="480974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700" b="1">
                <a:solidFill>
                  <a:srgbClr val="0E1A2E"/>
                </a:solidFill>
                <a:latin typeface="맑은 고딕"/>
              </a:rPr>
              <a:t>기존 가상 피팅 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1" y="2560320"/>
            <a:ext cx="4809744" cy="1636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CatVTON 속도·품질 실험 후 FASHN을 앱에 연결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FitDiT도 비교했으나 정핏 조정 실험에서 한계 확인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1F2F42"/>
                </a:solidFill>
                <a:latin typeface="맑은 고딕"/>
              </a:rPr>
              <a:t>기존 합성은 새 치수 기반 조정과 별도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" y="4736592"/>
            <a:ext cx="10698480" cy="804672"/>
          </a:xfrm>
          <a:prstGeom prst="roundRect">
            <a:avLst>
              <a:gd name="adj" fmla="val 10000"/>
            </a:avLst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" y="4919472"/>
            <a:ext cx="978408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>
                <a:solidFill>
                  <a:srgbClr val="009C95"/>
                </a:solidFill>
                <a:latin typeface="맑은 고딕"/>
              </a:rPr>
              <a:t>판단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11095" y="4919472"/>
            <a:ext cx="909828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700" b="1">
                <a:solidFill>
                  <a:srgbClr val="1F2F42"/>
                </a:solidFill>
                <a:latin typeface="맑은 고딕"/>
              </a:rPr>
              <a:t>기준 옷 비교와 엑셀 예측을 신체 치수 입력 경로로 정했다.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009C95"/>
                </a:solidFill>
                <a:latin typeface="맑은 고딕"/>
              </a:rPr>
              <a:t>08 / 해석과 한계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2800" b="1">
                <a:solidFill>
                  <a:srgbClr val="0E1A2E"/>
                </a:solidFill>
                <a:latin typeface="맑은 고딕"/>
              </a:rPr>
              <a:t>오차 수치는 모델 성능이지 실제 착용 핏 정확도가 아니다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316736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5F6E7E"/>
                </a:solidFill>
                <a:latin typeface="맑은 고딕"/>
              </a:rPr>
              <a:t>발표 시 신체 치수, 옷 실측, 사진상 폭을 구분해서 설명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46520"/>
            <a:ext cx="11045952" cy="10972"/>
          </a:xfrm>
          <a:prstGeom prst="rect">
            <a:avLst/>
          </a:prstGeom>
          <a:solidFill>
            <a:srgbClr val="D8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5F6E7E"/>
                </a:solidFill>
                <a:latin typeface="맑은 고딕"/>
              </a:rPr>
              <a:t>FitCheck · 신체 치수 모델 진행 현황 · 2026.10.25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492240"/>
            <a:ext cx="53035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100"/>
              </a:spcAft>
            </a:pPr>
            <a:r>
              <a:rPr sz="1000" b="0">
                <a:solidFill>
                  <a:srgbClr val="5F6E7E"/>
                </a:solidFill>
                <a:latin typeface="맑은 고딕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" y="1956816"/>
            <a:ext cx="5193792" cy="1435608"/>
          </a:xfrm>
          <a:prstGeom prst="roundRect">
            <a:avLst>
              <a:gd name="adj" fmla="val 10000"/>
            </a:avLst>
          </a:prstGeom>
          <a:solidFill>
            <a:srgbClr val="FFE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2376" y="1956816"/>
            <a:ext cx="68580" cy="1435608"/>
          </a:xfrm>
          <a:prstGeom prst="rect">
            <a:avLst/>
          </a:prstGeom>
          <a:solidFill>
            <a:srgbClr val="ED6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" y="2112264"/>
            <a:ext cx="480974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>
                <a:solidFill>
                  <a:srgbClr val="0E1A2E"/>
                </a:solidFill>
                <a:latin typeface="맑은 고딕"/>
              </a:rPr>
              <a:t>사진 측정의 한계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2578608"/>
            <a:ext cx="4809744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F2F42"/>
                </a:solidFill>
                <a:latin typeface="맑은 고딕"/>
              </a:rPr>
              <a:t>구도·원근·옷 때문에 어깨 픽셀 측정이 흔들려 기본 예측 경로에서 제외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1956816"/>
            <a:ext cx="5193792" cy="1435608"/>
          </a:xfrm>
          <a:prstGeom prst="roundRect">
            <a:avLst>
              <a:gd name="adj" fmla="val 10000"/>
            </a:avLst>
          </a:prstGeom>
          <a:solidFill>
            <a:srgbClr val="FFE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27064" y="1956816"/>
            <a:ext cx="68580" cy="1435608"/>
          </a:xfrm>
          <a:prstGeom prst="rect">
            <a:avLst/>
          </a:prstGeom>
          <a:solidFill>
            <a:srgbClr val="ED6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1" y="2112264"/>
            <a:ext cx="480974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>
                <a:solidFill>
                  <a:srgbClr val="0E1A2E"/>
                </a:solidFill>
                <a:latin typeface="맑은 고딕"/>
              </a:rPr>
              <a:t>평가의 한계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1" y="2578608"/>
            <a:ext cx="4809744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F2F42"/>
                </a:solidFill>
                <a:latin typeface="맑은 고딕"/>
              </a:rPr>
              <a:t>동일 조사자료 내 무작위 분할 결과. 외부 사용자에서의 정확도는 미검증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" y="3703320"/>
            <a:ext cx="5193792" cy="1435608"/>
          </a:xfrm>
          <a:prstGeom prst="roundRect">
            <a:avLst>
              <a:gd name="adj" fmla="val 10000"/>
            </a:avLst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2376" y="3703320"/>
            <a:ext cx="68580" cy="1435608"/>
          </a:xfrm>
          <a:prstGeom prst="rect">
            <a:avLst/>
          </a:prstGeom>
          <a:solidFill>
            <a:srgbClr val="009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" y="3858768"/>
            <a:ext cx="480974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>
                <a:solidFill>
                  <a:srgbClr val="0E1A2E"/>
                </a:solidFill>
                <a:latin typeface="맑은 고딕"/>
              </a:rPr>
              <a:t>측정 정의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" y="4325112"/>
            <a:ext cx="4809744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F2F42"/>
                </a:solidFill>
                <a:latin typeface="맑은 고딕"/>
              </a:rPr>
              <a:t>신체 기준 총장은 옷 총장과 다르고 몸 둘레의 절반은 사진 정면 폭이 아님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27064" y="3703320"/>
            <a:ext cx="5193792" cy="1435608"/>
          </a:xfrm>
          <a:prstGeom prst="roundRect">
            <a:avLst>
              <a:gd name="adj" fmla="val 10000"/>
            </a:avLst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27064" y="3703320"/>
            <a:ext cx="68580" cy="1435608"/>
          </a:xfrm>
          <a:prstGeom prst="rect">
            <a:avLst/>
          </a:prstGeom>
          <a:solidFill>
            <a:srgbClr val="009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8231" y="3858768"/>
            <a:ext cx="480974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>
                <a:solidFill>
                  <a:srgbClr val="0E1A2E"/>
                </a:solidFill>
                <a:latin typeface="맑은 고딕"/>
              </a:rPr>
              <a:t>현재 제품 범위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1" y="4325112"/>
            <a:ext cx="4809744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F2F42"/>
                </a:solidFill>
                <a:latin typeface="맑은 고딕"/>
              </a:rPr>
              <a:t>새 옷 OCR·S/M/L 연결, 치수 기반 마스킹·합성 조정은 후속 작업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009C95"/>
                </a:solidFill>
                <a:latin typeface="맑은 고딕"/>
              </a:rPr>
              <a:t>09 / 다음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2800" b="1">
                <a:solidFill>
                  <a:srgbClr val="0E1A2E"/>
                </a:solidFill>
                <a:latin typeface="맑은 고딕"/>
              </a:rPr>
              <a:t>Ridge를 기준 모델로 두고 연결과 실측 검증 진행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316736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5F6E7E"/>
                </a:solidFill>
                <a:latin typeface="맑은 고딕"/>
              </a:rPr>
              <a:t>새 옷 추천과 이미지 합성 조정은 각각 별도의 검증 단계를 거친다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46520"/>
            <a:ext cx="11045952" cy="10972"/>
          </a:xfrm>
          <a:prstGeom prst="rect">
            <a:avLst/>
          </a:prstGeom>
          <a:solidFill>
            <a:srgbClr val="D8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5F6E7E"/>
                </a:solidFill>
                <a:latin typeface="맑은 고딕"/>
              </a:rPr>
              <a:t>FitCheck · 신체 치수 모델 진행 현황 · 2026.10.25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492240"/>
            <a:ext cx="53035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100"/>
              </a:spcAft>
            </a:pPr>
            <a:r>
              <a:rPr sz="1000" b="0">
                <a:solidFill>
                  <a:srgbClr val="5F6E7E"/>
                </a:solidFill>
                <a:latin typeface="맑은 고딕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" y="1901952"/>
            <a:ext cx="10716768" cy="804672"/>
          </a:xfrm>
          <a:prstGeom prst="roundRect">
            <a:avLst>
              <a:gd name="adj" fmla="val 10000"/>
            </a:avLst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9536" y="2039112"/>
            <a:ext cx="521207" cy="521207"/>
          </a:xfrm>
          <a:prstGeom prst="roundRect">
            <a:avLst>
              <a:gd name="adj" fmla="val 10000"/>
            </a:avLst>
          </a:prstGeom>
          <a:solidFill>
            <a:srgbClr val="009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139696"/>
            <a:ext cx="34747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2103120"/>
            <a:ext cx="228600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700" b="1">
                <a:solidFill>
                  <a:srgbClr val="0E1A2E"/>
                </a:solidFill>
                <a:latin typeface="맑은 고딕"/>
              </a:rPr>
              <a:t>입력 경로 연결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13632" y="2103120"/>
            <a:ext cx="726948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0">
                <a:solidFill>
                  <a:srgbClr val="1F2F42"/>
                </a:solidFill>
                <a:latin typeface="맑은 고딕"/>
              </a:rPr>
              <a:t>기준 옷이 있으면 옷 실측, 없으면 Ridge 신체 예측 사용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76" y="2898648"/>
            <a:ext cx="10716768" cy="804672"/>
          </a:xfrm>
          <a:prstGeom prst="roundRect">
            <a:avLst>
              <a:gd name="adj" fmla="val 10000"/>
            </a:avLst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59536" y="3035808"/>
            <a:ext cx="521207" cy="521207"/>
          </a:xfrm>
          <a:prstGeom prst="roundRect">
            <a:avLst>
              <a:gd name="adj" fmla="val 10000"/>
            </a:avLst>
          </a:prstGeom>
          <a:solidFill>
            <a:srgbClr val="009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3136391"/>
            <a:ext cx="34747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81912" y="3099816"/>
            <a:ext cx="228600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700" b="1">
                <a:solidFill>
                  <a:srgbClr val="0E1A2E"/>
                </a:solidFill>
                <a:latin typeface="맑은 고딕"/>
              </a:rPr>
              <a:t>대상 옷 치수표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13632" y="3099816"/>
            <a:ext cx="726948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0">
                <a:solidFill>
                  <a:srgbClr val="1F2F42"/>
                </a:solidFill>
                <a:latin typeface="맑은 고딕"/>
              </a:rPr>
              <a:t>OCR 원문 확인·수정 후 S/M/L별 총장·어깨·가슴 비교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" y="3895344"/>
            <a:ext cx="10716768" cy="804672"/>
          </a:xfrm>
          <a:prstGeom prst="roundRect">
            <a:avLst>
              <a:gd name="adj" fmla="val 10000"/>
            </a:avLst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59536" y="4032504"/>
            <a:ext cx="521207" cy="521207"/>
          </a:xfrm>
          <a:prstGeom prst="roundRect">
            <a:avLst>
              <a:gd name="adj" fmla="val 10000"/>
            </a:avLst>
          </a:prstGeom>
          <a:solidFill>
            <a:srgbClr val="ED6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" y="4133087"/>
            <a:ext cx="34747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81912" y="4096511"/>
            <a:ext cx="228600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700" b="1">
                <a:solidFill>
                  <a:srgbClr val="0E1A2E"/>
                </a:solidFill>
                <a:latin typeface="맑은 고딕"/>
              </a:rPr>
              <a:t>실측·외부 검증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13632" y="4096511"/>
            <a:ext cx="726948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0">
                <a:solidFill>
                  <a:srgbClr val="1F2F42"/>
                </a:solidFill>
                <a:latin typeface="맑은 고딕"/>
              </a:rPr>
              <a:t>실제 사용자 오차, 체형별 실패, 추천 경계 사례 기록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6" y="4892040"/>
            <a:ext cx="10716768" cy="804672"/>
          </a:xfrm>
          <a:prstGeom prst="roundRect">
            <a:avLst>
              <a:gd name="adj" fmla="val 10000"/>
            </a:avLst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59536" y="5029200"/>
            <a:ext cx="521207" cy="521207"/>
          </a:xfrm>
          <a:prstGeom prst="roundRect">
            <a:avLst>
              <a:gd name="adj" fmla="val 10000"/>
            </a:avLst>
          </a:prstGeom>
          <a:solidFill>
            <a:srgbClr val="ED6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" y="5129784"/>
            <a:ext cx="34747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81912" y="5093208"/>
            <a:ext cx="228600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700" b="1">
                <a:solidFill>
                  <a:srgbClr val="0E1A2E"/>
                </a:solidFill>
                <a:latin typeface="맑은 고딕"/>
              </a:rPr>
              <a:t>합성 조정 실험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13632" y="5093208"/>
            <a:ext cx="726948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0">
                <a:solidFill>
                  <a:srgbClr val="1F2F42"/>
                </a:solidFill>
                <a:latin typeface="맑은 고딕"/>
              </a:rPr>
              <a:t>어깨 마스크·세로 길이·가슴 영역 각각 효과 검증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009C95"/>
                </a:solidFill>
                <a:latin typeface="맑은 고딕"/>
              </a:rPr>
              <a:t>10 / 재현 자료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2800" b="1">
                <a:solidFill>
                  <a:srgbClr val="0E1A2E"/>
                </a:solidFill>
                <a:latin typeface="맑은 고딕"/>
              </a:rPr>
              <a:t>학습 결과와 발표 수치를 다시 확인하는 방법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316736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5F6E7E"/>
                </a:solidFill>
                <a:latin typeface="맑은 고딕"/>
              </a:rPr>
              <a:t>프로젝트 루트에서 실행 · 저장된 실행 폴더는 덮어쓰지 않음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46520"/>
            <a:ext cx="11045952" cy="10972"/>
          </a:xfrm>
          <a:prstGeom prst="rect">
            <a:avLst/>
          </a:prstGeom>
          <a:solidFill>
            <a:srgbClr val="D8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5F6E7E"/>
                </a:solidFill>
                <a:latin typeface="맑은 고딕"/>
              </a:rPr>
              <a:t>FitCheck · 신체 치수 모델 진행 현황 · 2026.10.25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492240"/>
            <a:ext cx="53035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100"/>
              </a:spcAft>
            </a:pPr>
            <a:r>
              <a:rPr sz="1000" b="0">
                <a:solidFill>
                  <a:srgbClr val="5F6E7E"/>
                </a:solidFill>
                <a:latin typeface="맑은 고딕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29384"/>
            <a:ext cx="10707624" cy="2029968"/>
          </a:xfrm>
          <a:prstGeom prst="roundRect">
            <a:avLst>
              <a:gd name="adj" fmla="val 10000"/>
            </a:avLst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2415" y="2249424"/>
            <a:ext cx="10012680" cy="1408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900" b="0">
                <a:solidFill>
                  <a:srgbClr val="FFFFFF"/>
                </a:solidFill>
                <a:latin typeface="맑은 고딕"/>
              </a:rPr>
              <a:t>python -X utf8 scripts/train_body_model.py</a:t>
            </a:r>
          </a:p>
          <a:p>
            <a:pPr algn="l">
              <a:spcAft>
                <a:spcPts val="100"/>
              </a:spcAft>
            </a:pPr>
            <a:r>
              <a:rPr sz="1900" b="0">
                <a:solidFill>
                  <a:srgbClr val="FFFFFF"/>
                </a:solidFill>
                <a:latin typeface="맑은 고딕"/>
              </a:rPr>
              <a:t>python -X utf8 scripts/debug_body_model.py --ui</a:t>
            </a:r>
          </a:p>
          <a:p>
            <a:pPr algn="l">
              <a:spcAft>
                <a:spcPts val="100"/>
              </a:spcAft>
            </a:pPr>
            <a:r>
              <a:rPr sz="1900" b="0">
                <a:solidFill>
                  <a:srgbClr val="FFFFFF"/>
                </a:solidFill>
                <a:latin typeface="맑은 고딕"/>
              </a:rPr>
              <a:t>python -X utf8 scripts/debug_reference_size.py --ui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51960"/>
            <a:ext cx="10707624" cy="1261872"/>
          </a:xfrm>
          <a:prstGeom prst="roundRect">
            <a:avLst>
              <a:gd name="adj" fmla="val 10000"/>
            </a:avLst>
          </a:prstGeom>
          <a:solidFill>
            <a:srgbClr val="DE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251960"/>
            <a:ext cx="68580" cy="1261872"/>
          </a:xfrm>
          <a:prstGeom prst="rect">
            <a:avLst/>
          </a:prstGeom>
          <a:solidFill>
            <a:srgbClr val="009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4407408"/>
            <a:ext cx="1032357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>
                <a:solidFill>
                  <a:srgbClr val="0E1A2E"/>
                </a:solidFill>
                <a:latin typeface="맑은 고딕"/>
              </a:rPr>
              <a:t>근거 파일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873752"/>
            <a:ext cx="10323576" cy="493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F2F42"/>
                </a:solidFill>
                <a:latin typeface="맑은 고딕"/>
              </a:rPr>
              <a:t>outputs/body_model/20261025T051648_730977Z/report.md · report.json · metrics.csv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